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67" r:id="rId4"/>
    <p:sldId id="260" r:id="rId5"/>
    <p:sldId id="278" r:id="rId6"/>
    <p:sldId id="279" r:id="rId7"/>
    <p:sldId id="261" r:id="rId8"/>
    <p:sldId id="262" r:id="rId9"/>
    <p:sldId id="268" r:id="rId10"/>
    <p:sldId id="269" r:id="rId11"/>
    <p:sldId id="270" r:id="rId12"/>
    <p:sldId id="271" r:id="rId13"/>
    <p:sldId id="272" r:id="rId14"/>
    <p:sldId id="273" r:id="rId15"/>
    <p:sldId id="274" r:id="rId16"/>
    <p:sldId id="275" r:id="rId17"/>
    <p:sldId id="276" r:id="rId18"/>
    <p:sldId id="277" r:id="rId19"/>
    <p:sldId id="263" r:id="rId20"/>
    <p:sldId id="280" r:id="rId21"/>
    <p:sldId id="264" r:id="rId22"/>
    <p:sldId id="266" r:id="rId23"/>
    <p:sldId id="265" r:id="rId24"/>
    <p:sldId id="259" r:id="rId25"/>
  </p:sldIdLst>
  <p:sldSz cx="12192000" cy="6858000"/>
  <p:notesSz cx="6858000" cy="9144000"/>
  <p:embeddedFontLst>
    <p:embeddedFont>
      <p:font typeface="Lato Black" panose="020F0502020204030203" pitchFamily="34" charset="0"/>
      <p:bold r:id="rId27"/>
      <p:boldItalic r:id="rId28"/>
    </p:embeddedFont>
    <p:embeddedFont>
      <p:font typeface="Libre Baskerville" panose="02000000000000000000" pitchFamily="2" charset="0"/>
      <p:regular r:id="rId29"/>
      <p:bold r:id="rId30"/>
      <p: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2328"/>
    <a:srgbClr val="E82429"/>
    <a:srgbClr val="E82328"/>
    <a:srgbClr val="E62328"/>
    <a:srgbClr val="E01F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CD36BB-FC4D-4DD9-85FC-C02B594E9F74}" v="49" dt="2026-01-02T21:47: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98" autoAdjust="0"/>
    <p:restoredTop sz="94660"/>
  </p:normalViewPr>
  <p:slideViewPr>
    <p:cSldViewPr snapToGrid="0">
      <p:cViewPr varScale="1">
        <p:scale>
          <a:sx n="45" d="100"/>
          <a:sy n="45" d="100"/>
        </p:scale>
        <p:origin x="58" y="7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SHITH KANCHARI" userId="e4ef4b1b875170b9" providerId="LiveId" clId="{9DC01326-1031-4070-9597-F70E0EC81D39}"/>
    <pc:docChg chg="undo custSel addSld modSld sldOrd">
      <pc:chgData name="NIKSHITH KANCHARI" userId="e4ef4b1b875170b9" providerId="LiveId" clId="{9DC01326-1031-4070-9597-F70E0EC81D39}" dt="2026-01-02T21:49:21.406" v="348" actId="1076"/>
      <pc:docMkLst>
        <pc:docMk/>
      </pc:docMkLst>
      <pc:sldChg chg="modSp mod">
        <pc:chgData name="NIKSHITH KANCHARI" userId="e4ef4b1b875170b9" providerId="LiveId" clId="{9DC01326-1031-4070-9597-F70E0EC81D39}" dt="2026-01-02T21:15:18.616" v="120" actId="207"/>
        <pc:sldMkLst>
          <pc:docMk/>
          <pc:sldMk cId="0" sldId="256"/>
        </pc:sldMkLst>
        <pc:spChg chg="mod">
          <ac:chgData name="NIKSHITH KANCHARI" userId="e4ef4b1b875170b9" providerId="LiveId" clId="{9DC01326-1031-4070-9597-F70E0EC81D39}" dt="2026-01-02T21:15:18.616" v="120" actId="207"/>
          <ac:spMkLst>
            <pc:docMk/>
            <pc:sldMk cId="0" sldId="256"/>
            <ac:spMk id="99" creationId="{00000000-0000-0000-0000-000000000000}"/>
          </ac:spMkLst>
        </pc:spChg>
      </pc:sldChg>
      <pc:sldChg chg="modSp mod">
        <pc:chgData name="NIKSHITH KANCHARI" userId="e4ef4b1b875170b9" providerId="LiveId" clId="{9DC01326-1031-4070-9597-F70E0EC81D39}" dt="2026-01-02T21:47:45.999" v="320" actId="207"/>
        <pc:sldMkLst>
          <pc:docMk/>
          <pc:sldMk cId="0" sldId="257"/>
        </pc:sldMkLst>
        <pc:spChg chg="mod">
          <ac:chgData name="NIKSHITH KANCHARI" userId="e4ef4b1b875170b9" providerId="LiveId" clId="{9DC01326-1031-4070-9597-F70E0EC81D39}" dt="2026-01-02T21:10:56.795" v="101" actId="5793"/>
          <ac:spMkLst>
            <pc:docMk/>
            <pc:sldMk cId="0" sldId="257"/>
            <ac:spMk id="104" creationId="{00000000-0000-0000-0000-000000000000}"/>
          </ac:spMkLst>
        </pc:spChg>
        <pc:spChg chg="mod">
          <ac:chgData name="NIKSHITH KANCHARI" userId="e4ef4b1b875170b9" providerId="LiveId" clId="{9DC01326-1031-4070-9597-F70E0EC81D39}" dt="2026-01-02T21:47:45.999" v="320" actId="207"/>
          <ac:spMkLst>
            <pc:docMk/>
            <pc:sldMk cId="0" sldId="257"/>
            <ac:spMk id="105" creationId="{00000000-0000-0000-0000-000000000000}"/>
          </ac:spMkLst>
        </pc:spChg>
      </pc:sldChg>
      <pc:sldChg chg="modSp mod">
        <pc:chgData name="NIKSHITH KANCHARI" userId="e4ef4b1b875170b9" providerId="LiveId" clId="{9DC01326-1031-4070-9597-F70E0EC81D39}" dt="2026-01-02T21:34:04.632" v="254" actId="207"/>
        <pc:sldMkLst>
          <pc:docMk/>
          <pc:sldMk cId="0" sldId="259"/>
        </pc:sldMkLst>
        <pc:spChg chg="mod">
          <ac:chgData name="NIKSHITH KANCHARI" userId="e4ef4b1b875170b9" providerId="LiveId" clId="{9DC01326-1031-4070-9597-F70E0EC81D39}" dt="2026-01-02T21:34:04.632" v="254" actId="207"/>
          <ac:spMkLst>
            <pc:docMk/>
            <pc:sldMk cId="0" sldId="259"/>
            <ac:spMk id="117" creationId="{00000000-0000-0000-0000-000000000000}"/>
          </ac:spMkLst>
        </pc:spChg>
      </pc:sldChg>
      <pc:sldChg chg="modSp mod">
        <pc:chgData name="NIKSHITH KANCHARI" userId="e4ef4b1b875170b9" providerId="LiveId" clId="{9DC01326-1031-4070-9597-F70E0EC81D39}" dt="2026-01-02T21:18:32.793" v="145" actId="20577"/>
        <pc:sldMkLst>
          <pc:docMk/>
          <pc:sldMk cId="2560249469" sldId="260"/>
        </pc:sldMkLst>
        <pc:spChg chg="mod">
          <ac:chgData name="NIKSHITH KANCHARI" userId="e4ef4b1b875170b9" providerId="LiveId" clId="{9DC01326-1031-4070-9597-F70E0EC81D39}" dt="2026-01-02T21:18:32.793" v="145" actId="20577"/>
          <ac:spMkLst>
            <pc:docMk/>
            <pc:sldMk cId="2560249469" sldId="260"/>
            <ac:spMk id="2" creationId="{ECFC66D3-2F71-289E-022E-726697CF7E62}"/>
          </ac:spMkLst>
        </pc:spChg>
      </pc:sldChg>
      <pc:sldChg chg="modSp mod">
        <pc:chgData name="NIKSHITH KANCHARI" userId="e4ef4b1b875170b9" providerId="LiveId" clId="{9DC01326-1031-4070-9597-F70E0EC81D39}" dt="2026-01-02T21:48:34.208" v="321" actId="255"/>
        <pc:sldMkLst>
          <pc:docMk/>
          <pc:sldMk cId="4205137680" sldId="263"/>
        </pc:sldMkLst>
        <pc:spChg chg="mod">
          <ac:chgData name="NIKSHITH KANCHARI" userId="e4ef4b1b875170b9" providerId="LiveId" clId="{9DC01326-1031-4070-9597-F70E0EC81D39}" dt="2026-01-02T21:48:34.208" v="321" actId="255"/>
          <ac:spMkLst>
            <pc:docMk/>
            <pc:sldMk cId="4205137680" sldId="263"/>
            <ac:spMk id="2" creationId="{F7E8D087-0582-E350-C213-2850AB8D690C}"/>
          </ac:spMkLst>
        </pc:spChg>
        <pc:spChg chg="mod">
          <ac:chgData name="NIKSHITH KANCHARI" userId="e4ef4b1b875170b9" providerId="LiveId" clId="{9DC01326-1031-4070-9597-F70E0EC81D39}" dt="2026-01-02T21:41:17.376" v="285" actId="113"/>
          <ac:spMkLst>
            <pc:docMk/>
            <pc:sldMk cId="4205137680" sldId="263"/>
            <ac:spMk id="3" creationId="{BF4C407B-DFEE-87E8-C360-7C6470937A44}"/>
          </ac:spMkLst>
        </pc:spChg>
      </pc:sldChg>
      <pc:sldChg chg="modSp mod">
        <pc:chgData name="NIKSHITH KANCHARI" userId="e4ef4b1b875170b9" providerId="LiveId" clId="{9DC01326-1031-4070-9597-F70E0EC81D39}" dt="2026-01-02T21:49:21.406" v="348" actId="1076"/>
        <pc:sldMkLst>
          <pc:docMk/>
          <pc:sldMk cId="1695585081" sldId="264"/>
        </pc:sldMkLst>
        <pc:spChg chg="mod">
          <ac:chgData name="NIKSHITH KANCHARI" userId="e4ef4b1b875170b9" providerId="LiveId" clId="{9DC01326-1031-4070-9597-F70E0EC81D39}" dt="2026-01-02T21:49:21.406" v="348" actId="1076"/>
          <ac:spMkLst>
            <pc:docMk/>
            <pc:sldMk cId="1695585081" sldId="264"/>
            <ac:spMk id="2" creationId="{AAF52A79-21D0-7719-7584-755DC235AA41}"/>
          </ac:spMkLst>
        </pc:spChg>
        <pc:spChg chg="mod">
          <ac:chgData name="NIKSHITH KANCHARI" userId="e4ef4b1b875170b9" providerId="LiveId" clId="{9DC01326-1031-4070-9597-F70E0EC81D39}" dt="2026-01-02T21:40:21.298" v="282" actId="207"/>
          <ac:spMkLst>
            <pc:docMk/>
            <pc:sldMk cId="1695585081" sldId="264"/>
            <ac:spMk id="3" creationId="{25BF68E9-54EC-7C27-33DE-FB9E5F1277F7}"/>
          </ac:spMkLst>
        </pc:spChg>
      </pc:sldChg>
      <pc:sldChg chg="modSp mod">
        <pc:chgData name="NIKSHITH KANCHARI" userId="e4ef4b1b875170b9" providerId="LiveId" clId="{9DC01326-1031-4070-9597-F70E0EC81D39}" dt="2026-01-02T21:33:41.238" v="253" actId="207"/>
        <pc:sldMkLst>
          <pc:docMk/>
          <pc:sldMk cId="2417627459" sldId="265"/>
        </pc:sldMkLst>
        <pc:spChg chg="mod">
          <ac:chgData name="NIKSHITH KANCHARI" userId="e4ef4b1b875170b9" providerId="LiveId" clId="{9DC01326-1031-4070-9597-F70E0EC81D39}" dt="2026-01-02T21:33:41.238" v="253" actId="207"/>
          <ac:spMkLst>
            <pc:docMk/>
            <pc:sldMk cId="2417627459" sldId="265"/>
            <ac:spMk id="3" creationId="{49F762EB-77CB-4D61-0542-29B71D5A9078}"/>
          </ac:spMkLst>
        </pc:spChg>
      </pc:sldChg>
      <pc:sldChg chg="modSp mod ord">
        <pc:chgData name="NIKSHITH KANCHARI" userId="e4ef4b1b875170b9" providerId="LiveId" clId="{9DC01326-1031-4070-9597-F70E0EC81D39}" dt="2026-01-02T21:38:53.084" v="276" actId="207"/>
        <pc:sldMkLst>
          <pc:docMk/>
          <pc:sldMk cId="2526766856" sldId="266"/>
        </pc:sldMkLst>
        <pc:spChg chg="mod">
          <ac:chgData name="NIKSHITH KANCHARI" userId="e4ef4b1b875170b9" providerId="LiveId" clId="{9DC01326-1031-4070-9597-F70E0EC81D39}" dt="2026-01-02T21:38:53.084" v="276" actId="207"/>
          <ac:spMkLst>
            <pc:docMk/>
            <pc:sldMk cId="2526766856" sldId="266"/>
            <ac:spMk id="3" creationId="{1F7B1333-4B51-9CA1-25E0-8D51B3EBCADB}"/>
          </ac:spMkLst>
        </pc:spChg>
      </pc:sldChg>
      <pc:sldChg chg="addSp delSp modSp mod">
        <pc:chgData name="NIKSHITH KANCHARI" userId="e4ef4b1b875170b9" providerId="LiveId" clId="{9DC01326-1031-4070-9597-F70E0EC81D39}" dt="2026-01-02T21:45:11.072" v="309" actId="113"/>
        <pc:sldMkLst>
          <pc:docMk/>
          <pc:sldMk cId="720073664" sldId="267"/>
        </pc:sldMkLst>
        <pc:spChg chg="mod">
          <ac:chgData name="NIKSHITH KANCHARI" userId="e4ef4b1b875170b9" providerId="LiveId" clId="{9DC01326-1031-4070-9597-F70E0EC81D39}" dt="2026-01-02T21:18:15.893" v="138" actId="255"/>
          <ac:spMkLst>
            <pc:docMk/>
            <pc:sldMk cId="720073664" sldId="267"/>
            <ac:spMk id="2" creationId="{D957F5A8-4FE7-E0F9-EA71-CFAD8EB2CD7E}"/>
          </ac:spMkLst>
        </pc:spChg>
        <pc:spChg chg="add del mod">
          <ac:chgData name="NIKSHITH KANCHARI" userId="e4ef4b1b875170b9" providerId="LiveId" clId="{9DC01326-1031-4070-9597-F70E0EC81D39}" dt="2026-01-02T21:45:11.072" v="309" actId="113"/>
          <ac:spMkLst>
            <pc:docMk/>
            <pc:sldMk cId="720073664" sldId="267"/>
            <ac:spMk id="3" creationId="{CAD38697-E05D-48C2-D9C4-DAEDB5FB71F9}"/>
          </ac:spMkLst>
        </pc:spChg>
        <pc:spChg chg="add">
          <ac:chgData name="NIKSHITH KANCHARI" userId="e4ef4b1b875170b9" providerId="LiveId" clId="{9DC01326-1031-4070-9597-F70E0EC81D39}" dt="2026-01-02T21:04:56.929" v="63"/>
          <ac:spMkLst>
            <pc:docMk/>
            <pc:sldMk cId="720073664" sldId="267"/>
            <ac:spMk id="4" creationId="{F65D8178-BC75-0555-C161-B58DCB98B280}"/>
          </ac:spMkLst>
        </pc:spChg>
        <pc:spChg chg="add mod">
          <ac:chgData name="NIKSHITH KANCHARI" userId="e4ef4b1b875170b9" providerId="LiveId" clId="{9DC01326-1031-4070-9597-F70E0EC81D39}" dt="2026-01-02T21:05:03.697" v="66"/>
          <ac:spMkLst>
            <pc:docMk/>
            <pc:sldMk cId="720073664" sldId="267"/>
            <ac:spMk id="5" creationId="{585908F9-19E1-D4AE-E3F2-B8C63733BEB0}"/>
          </ac:spMkLst>
        </pc:spChg>
      </pc:sldChg>
      <pc:sldChg chg="delSp modSp add mod">
        <pc:chgData name="NIKSHITH KANCHARI" userId="e4ef4b1b875170b9" providerId="LiveId" clId="{9DC01326-1031-4070-9597-F70E0EC81D39}" dt="2026-01-02T21:44:35.700" v="306" actId="207"/>
        <pc:sldMkLst>
          <pc:docMk/>
          <pc:sldMk cId="1561091409" sldId="278"/>
        </pc:sldMkLst>
        <pc:spChg chg="mod">
          <ac:chgData name="NIKSHITH KANCHARI" userId="e4ef4b1b875170b9" providerId="LiveId" clId="{9DC01326-1031-4070-9597-F70E0EC81D39}" dt="2026-01-02T21:18:40.600" v="146"/>
          <ac:spMkLst>
            <pc:docMk/>
            <pc:sldMk cId="1561091409" sldId="278"/>
            <ac:spMk id="2" creationId="{49A586C1-0B43-76B6-4F60-B02D1363791E}"/>
          </ac:spMkLst>
        </pc:spChg>
        <pc:spChg chg="mod">
          <ac:chgData name="NIKSHITH KANCHARI" userId="e4ef4b1b875170b9" providerId="LiveId" clId="{9DC01326-1031-4070-9597-F70E0EC81D39}" dt="2026-01-02T21:44:35.700" v="306" actId="207"/>
          <ac:spMkLst>
            <pc:docMk/>
            <pc:sldMk cId="1561091409" sldId="278"/>
            <ac:spMk id="3" creationId="{E3B1A792-E108-360F-E611-95D851B357AD}"/>
          </ac:spMkLst>
        </pc:spChg>
        <pc:picChg chg="del">
          <ac:chgData name="NIKSHITH KANCHARI" userId="e4ef4b1b875170b9" providerId="LiveId" clId="{9DC01326-1031-4070-9597-F70E0EC81D39}" dt="2026-01-02T21:06:42.158" v="69" actId="478"/>
          <ac:picMkLst>
            <pc:docMk/>
            <pc:sldMk cId="1561091409" sldId="278"/>
            <ac:picMk id="5" creationId="{8E6DBB9D-F5FB-7BF8-3788-75CEBC4EB74A}"/>
          </ac:picMkLst>
        </pc:picChg>
        <pc:picChg chg="del">
          <ac:chgData name="NIKSHITH KANCHARI" userId="e4ef4b1b875170b9" providerId="LiveId" clId="{9DC01326-1031-4070-9597-F70E0EC81D39}" dt="2026-01-02T21:06:44.051" v="70" actId="478"/>
          <ac:picMkLst>
            <pc:docMk/>
            <pc:sldMk cId="1561091409" sldId="278"/>
            <ac:picMk id="9" creationId="{4068B596-FC15-D7D3-727C-0F74DF7511F4}"/>
          </ac:picMkLst>
        </pc:picChg>
      </pc:sldChg>
      <pc:sldChg chg="modSp add mod">
        <pc:chgData name="NIKSHITH KANCHARI" userId="e4ef4b1b875170b9" providerId="LiveId" clId="{9DC01326-1031-4070-9597-F70E0EC81D39}" dt="2026-01-02T21:42:44.286" v="295" actId="207"/>
        <pc:sldMkLst>
          <pc:docMk/>
          <pc:sldMk cId="122169063" sldId="279"/>
        </pc:sldMkLst>
        <pc:spChg chg="mod">
          <ac:chgData name="NIKSHITH KANCHARI" userId="e4ef4b1b875170b9" providerId="LiveId" clId="{9DC01326-1031-4070-9597-F70E0EC81D39}" dt="2026-01-02T21:42:44.286" v="295" actId="207"/>
          <ac:spMkLst>
            <pc:docMk/>
            <pc:sldMk cId="122169063" sldId="279"/>
            <ac:spMk id="3" creationId="{867C3762-0D5E-84CE-7FD3-B4CC88BAB807}"/>
          </ac:spMkLst>
        </pc:spChg>
      </pc:sldChg>
      <pc:sldChg chg="modSp add mod">
        <pc:chgData name="NIKSHITH KANCHARI" userId="e4ef4b1b875170b9" providerId="LiveId" clId="{9DC01326-1031-4070-9597-F70E0EC81D39}" dt="2026-01-02T21:48:42.311" v="322" actId="255"/>
        <pc:sldMkLst>
          <pc:docMk/>
          <pc:sldMk cId="270854013" sldId="280"/>
        </pc:sldMkLst>
        <pc:spChg chg="mod">
          <ac:chgData name="NIKSHITH KANCHARI" userId="e4ef4b1b875170b9" providerId="LiveId" clId="{9DC01326-1031-4070-9597-F70E0EC81D39}" dt="2026-01-02T21:48:42.311" v="322" actId="255"/>
          <ac:spMkLst>
            <pc:docMk/>
            <pc:sldMk cId="270854013" sldId="280"/>
            <ac:spMk id="2" creationId="{B2216FB0-11DE-8B9A-A1B4-33AA1855DD50}"/>
          </ac:spMkLst>
        </pc:spChg>
        <pc:spChg chg="mod">
          <ac:chgData name="NIKSHITH KANCHARI" userId="e4ef4b1b875170b9" providerId="LiveId" clId="{9DC01326-1031-4070-9597-F70E0EC81D39}" dt="2026-01-02T21:40:36.514" v="284" actId="113"/>
          <ac:spMkLst>
            <pc:docMk/>
            <pc:sldMk cId="270854013" sldId="280"/>
            <ac:spMk id="3" creationId="{FE0CC17D-BB4E-9E06-4A84-4B0EFF68594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6"/>
            <a:ext cx="8101405" cy="62457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8" name="Google Shape;28;p10"/>
          <p:cNvSpPr txBox="1">
            <a:spLocks noGrp="1"/>
          </p:cNvSpPr>
          <p:nvPr>
            <p:ph type="body" idx="1"/>
          </p:nvPr>
        </p:nvSpPr>
        <p:spPr>
          <a:xfrm>
            <a:off x="838200" y="1102660"/>
            <a:ext cx="10515600" cy="50743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6"/>
            <a:ext cx="6724426" cy="95806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dirty="0"/>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472904" y="3717986"/>
            <a:ext cx="7246189" cy="1200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br>
              <a:rPr lang="en-IN" sz="3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br>
            <a:r>
              <a:rPr lang="en-IN" sz="36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MUSIC STORE DATA </a:t>
            </a:r>
            <a:r>
              <a:rPr lang="en-IN" sz="3600" b="1" i="0" u="none" strike="noStrike" cap="none" dirty="0">
                <a:solidFill>
                  <a:srgbClr val="E01F26"/>
                </a:solidFill>
                <a:latin typeface="Times New Roman" panose="02020603050405020304" pitchFamily="18" charset="0"/>
                <a:ea typeface="Calibri"/>
                <a:cs typeface="Times New Roman" panose="02020603050405020304" pitchFamily="18" charset="0"/>
                <a:sym typeface="Calibri"/>
              </a:rPr>
              <a:t>ANALYSIS</a:t>
            </a:r>
            <a:endParaRPr sz="3600" b="1" i="0" u="none" strike="noStrike" cap="none" dirty="0">
              <a:solidFill>
                <a:srgbClr val="E01F26"/>
              </a:solidFill>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37812" y="1299172"/>
            <a:ext cx="7007400" cy="3046948"/>
          </a:xfrm>
          <a:prstGeom prst="rect">
            <a:avLst/>
          </a:prstGeom>
          <a:noFill/>
          <a:ln>
            <a:noFill/>
          </a:ln>
        </p:spPr>
        <p:txBody>
          <a:bodyPr spcFirstLastPara="1" wrap="square" lIns="91425" tIns="45700" rIns="91425" bIns="45700" anchor="t" anchorCtr="0">
            <a:spAutoFit/>
          </a:bodyPr>
          <a:lstStyle/>
          <a:p>
            <a:pPr marL="285750" marR="0" lvl="0" indent="-323850" algn="l" rtl="0">
              <a:lnSpc>
                <a:spcPct val="100000"/>
              </a:lnSpc>
              <a:spcBef>
                <a:spcPts val="0"/>
              </a:spcBef>
              <a:spcAft>
                <a:spcPts val="0"/>
              </a:spcAft>
              <a:buClr>
                <a:schemeClr val="dk1"/>
              </a:buClr>
              <a:buSzPts val="2400"/>
              <a:buFont typeface="Arial"/>
              <a:buChar char="•"/>
            </a:pPr>
            <a:r>
              <a:rPr lang="en-IN" sz="2400" b="1" dirty="0">
                <a:solidFill>
                  <a:schemeClr val="dk1"/>
                </a:solidFill>
                <a:latin typeface="Calibri"/>
                <a:ea typeface="Calibri"/>
                <a:cs typeface="Calibri"/>
                <a:sym typeface="Calibri"/>
              </a:rPr>
              <a:t>Group member 1:	</a:t>
            </a:r>
            <a:r>
              <a:rPr lang="en-IN" sz="2400" b="1" i="0" u="none" strike="noStrike" cap="none" dirty="0">
                <a:solidFill>
                  <a:schemeClr val="dk1"/>
                </a:solidFill>
                <a:latin typeface="Calibri"/>
                <a:ea typeface="Calibri"/>
                <a:cs typeface="Calibri"/>
                <a:sym typeface="Calibri"/>
              </a:rPr>
              <a:t>K. </a:t>
            </a:r>
            <a:r>
              <a:rPr lang="en-IN" sz="2400" b="1" dirty="0">
                <a:solidFill>
                  <a:schemeClr val="dk1"/>
                </a:solidFill>
                <a:latin typeface="Calibri"/>
                <a:ea typeface="Calibri"/>
                <a:cs typeface="Calibri"/>
                <a:sym typeface="Calibri"/>
              </a:rPr>
              <a:t>Dileep</a:t>
            </a:r>
            <a:r>
              <a:rPr lang="en-IN" sz="2400" b="1" i="0" u="none" strike="noStrike" cap="none" dirty="0">
                <a:solidFill>
                  <a:schemeClr val="dk1"/>
                </a:solidFill>
                <a:latin typeface="Calibri"/>
                <a:ea typeface="Calibri"/>
                <a:cs typeface="Calibri"/>
                <a:sym typeface="Calibri"/>
              </a:rPr>
              <a:t>, B. Tech</a:t>
            </a:r>
            <a:r>
              <a:rPr lang="en-IN" sz="2400" b="1" dirty="0">
                <a:solidFill>
                  <a:schemeClr val="dk1"/>
                </a:solidFill>
                <a:latin typeface="Calibri"/>
                <a:ea typeface="Calibri"/>
                <a:cs typeface="Calibri"/>
                <a:sym typeface="Calibri"/>
              </a:rPr>
              <a:t> in CSE</a:t>
            </a:r>
          </a:p>
          <a:p>
            <a:pPr marR="0" lvl="0" algn="l" rtl="0">
              <a:lnSpc>
                <a:spcPct val="100000"/>
              </a:lnSpc>
              <a:spcBef>
                <a:spcPts val="0"/>
              </a:spcBef>
              <a:spcAft>
                <a:spcPts val="0"/>
              </a:spcAft>
              <a:buClr>
                <a:schemeClr val="dk1"/>
              </a:buClr>
              <a:buSzPts val="2400"/>
            </a:pPr>
            <a:r>
              <a:rPr lang="en-IN" sz="2400" b="1" dirty="0">
                <a:solidFill>
                  <a:schemeClr val="dk1"/>
                </a:solidFill>
                <a:latin typeface="Calibri"/>
                <a:ea typeface="Calibri"/>
                <a:cs typeface="Calibri"/>
                <a:sym typeface="Calibri"/>
              </a:rPr>
              <a:t>     ID: , Batch: 448</a:t>
            </a:r>
          </a:p>
          <a:p>
            <a:pPr marL="285750" marR="0" lvl="0" indent="-323850" algn="l" rtl="0">
              <a:lnSpc>
                <a:spcPct val="100000"/>
              </a:lnSpc>
              <a:spcBef>
                <a:spcPts val="0"/>
              </a:spcBef>
              <a:spcAft>
                <a:spcPts val="0"/>
              </a:spcAft>
              <a:buClr>
                <a:schemeClr val="dk1"/>
              </a:buClr>
              <a:buSzPts val="2400"/>
              <a:buFont typeface="Arial"/>
              <a:buChar char="•"/>
            </a:pPr>
            <a:endParaRPr sz="2400" b="1" i="0" u="none" strike="noStrike" cap="none" dirty="0">
              <a:solidFill>
                <a:schemeClr val="dk1"/>
              </a:solidFill>
              <a:latin typeface="Calibri"/>
              <a:ea typeface="Calibri"/>
              <a:cs typeface="Calibri"/>
              <a:sym typeface="Calibri"/>
            </a:endParaRPr>
          </a:p>
          <a:p>
            <a:pPr marL="285750" marR="0" lvl="0" indent="-323850" algn="l" rtl="0">
              <a:lnSpc>
                <a:spcPct val="100000"/>
              </a:lnSpc>
              <a:spcBef>
                <a:spcPts val="0"/>
              </a:spcBef>
              <a:spcAft>
                <a:spcPts val="0"/>
              </a:spcAft>
              <a:buClr>
                <a:schemeClr val="dk1"/>
              </a:buClr>
              <a:buSzPts val="2400"/>
              <a:buFont typeface="Arial"/>
              <a:buChar char="•"/>
            </a:pPr>
            <a:r>
              <a:rPr lang="en-IN" sz="2400" b="1" dirty="0">
                <a:solidFill>
                  <a:schemeClr val="dk1"/>
                </a:solidFill>
                <a:latin typeface="Calibri"/>
                <a:ea typeface="Calibri"/>
                <a:cs typeface="Calibri"/>
                <a:sym typeface="Calibri"/>
              </a:rPr>
              <a:t>Group member 2:	</a:t>
            </a:r>
            <a:r>
              <a:rPr lang="en-IN" sz="2400" b="1" i="0" u="none" strike="noStrike" cap="none" dirty="0">
                <a:solidFill>
                  <a:schemeClr val="dk1"/>
                </a:solidFill>
                <a:latin typeface="Calibri"/>
                <a:ea typeface="Calibri"/>
                <a:cs typeface="Calibri"/>
                <a:sym typeface="Calibri"/>
              </a:rPr>
              <a:t>K. </a:t>
            </a:r>
            <a:r>
              <a:rPr lang="en-IN" sz="2400" b="1" i="0" u="none" strike="noStrike" cap="none" dirty="0" err="1">
                <a:solidFill>
                  <a:schemeClr val="dk1"/>
                </a:solidFill>
                <a:latin typeface="Calibri"/>
                <a:ea typeface="Calibri"/>
                <a:cs typeface="Calibri"/>
                <a:sym typeface="Calibri"/>
              </a:rPr>
              <a:t>Nikshith</a:t>
            </a:r>
            <a:r>
              <a:rPr lang="en-IN" sz="2400" b="1" dirty="0">
                <a:solidFill>
                  <a:schemeClr val="dk1"/>
                </a:solidFill>
                <a:latin typeface="Calibri"/>
                <a:ea typeface="Calibri"/>
                <a:cs typeface="Calibri"/>
                <a:sym typeface="Calibri"/>
              </a:rPr>
              <a:t>, B. Tech in CSE</a:t>
            </a:r>
          </a:p>
          <a:p>
            <a:pPr lvl="0">
              <a:buClr>
                <a:schemeClr val="dk1"/>
              </a:buClr>
              <a:buSzPts val="2400"/>
            </a:pPr>
            <a:r>
              <a:rPr lang="en-IN" sz="2400" b="1" dirty="0">
                <a:solidFill>
                  <a:schemeClr val="dk1"/>
                </a:solidFill>
                <a:latin typeface="Calibri"/>
                <a:ea typeface="Calibri"/>
                <a:cs typeface="Calibri"/>
                <a:sym typeface="Calibri"/>
              </a:rPr>
              <a:t>     ID: , Batch: 448</a:t>
            </a:r>
          </a:p>
          <a:p>
            <a:pPr marL="285750" marR="0" lvl="0" indent="-323850" algn="l" rtl="0">
              <a:lnSpc>
                <a:spcPct val="100000"/>
              </a:lnSpc>
              <a:spcBef>
                <a:spcPts val="0"/>
              </a:spcBef>
              <a:spcAft>
                <a:spcPts val="0"/>
              </a:spcAft>
              <a:buClr>
                <a:schemeClr val="dk1"/>
              </a:buClr>
              <a:buSzPts val="2400"/>
              <a:buFont typeface="Arial"/>
              <a:buChar char="•"/>
            </a:pPr>
            <a:endParaRPr lang="en-IN" sz="2400" b="1" i="0" u="none" strike="noStrike" cap="none" dirty="0">
              <a:solidFill>
                <a:schemeClr val="dk1"/>
              </a:solidFill>
              <a:latin typeface="Calibri"/>
              <a:ea typeface="Calibri"/>
              <a:cs typeface="Calibri"/>
              <a:sym typeface="Calibri"/>
            </a:endParaRPr>
          </a:p>
          <a:p>
            <a:pPr marL="285750" marR="0" lvl="0" indent="-323850" algn="l" rtl="0">
              <a:lnSpc>
                <a:spcPct val="100000"/>
              </a:lnSpc>
              <a:spcBef>
                <a:spcPts val="0"/>
              </a:spcBef>
              <a:spcAft>
                <a:spcPts val="0"/>
              </a:spcAft>
              <a:buClr>
                <a:schemeClr val="dk1"/>
              </a:buClr>
              <a:buSzPts val="2400"/>
              <a:buFont typeface="Arial"/>
              <a:buChar char="•"/>
            </a:pPr>
            <a:r>
              <a:rPr lang="en-IN" sz="2400" b="1" dirty="0">
                <a:solidFill>
                  <a:schemeClr val="dk1"/>
                </a:solidFill>
                <a:latin typeface="Calibri"/>
                <a:ea typeface="Calibri"/>
                <a:cs typeface="Calibri"/>
                <a:sym typeface="Calibri"/>
              </a:rPr>
              <a:t>Group member 3:	M. </a:t>
            </a:r>
            <a:r>
              <a:rPr lang="en-IN" sz="2400" b="1" dirty="0" err="1">
                <a:solidFill>
                  <a:schemeClr val="dk1"/>
                </a:solidFill>
                <a:latin typeface="Calibri"/>
                <a:ea typeface="Calibri"/>
                <a:cs typeface="Calibri"/>
                <a:sym typeface="Calibri"/>
              </a:rPr>
              <a:t>Lakshmikar</a:t>
            </a:r>
            <a:r>
              <a:rPr lang="en-IN" sz="2400" b="1" dirty="0">
                <a:solidFill>
                  <a:schemeClr val="dk1"/>
                </a:solidFill>
                <a:latin typeface="Calibri"/>
                <a:ea typeface="Calibri"/>
                <a:cs typeface="Calibri"/>
                <a:sym typeface="Calibri"/>
              </a:rPr>
              <a:t>, MBA </a:t>
            </a:r>
          </a:p>
          <a:p>
            <a:pPr lvl="0">
              <a:buClr>
                <a:schemeClr val="dk1"/>
              </a:buClr>
              <a:buSzPts val="2400"/>
            </a:pPr>
            <a:r>
              <a:rPr lang="en-IN" sz="2400" b="1" dirty="0">
                <a:solidFill>
                  <a:schemeClr val="dk1"/>
                </a:solidFill>
                <a:latin typeface="Calibri"/>
                <a:ea typeface="Calibri"/>
                <a:cs typeface="Calibri"/>
                <a:sym typeface="Calibri"/>
              </a:rPr>
              <a:t>     ID: , Batch: 448</a:t>
            </a:r>
            <a:endParaRPr sz="2400" b="1"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737812" y="670554"/>
            <a:ext cx="6099463" cy="461624"/>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000" b="0" i="0" u="none" strike="noStrike" cap="none" dirty="0">
                <a:solidFill>
                  <a:schemeClr val="tx1"/>
                </a:solidFill>
                <a:latin typeface="Lato Black"/>
                <a:ea typeface="Lato Black"/>
                <a:cs typeface="Lato Black"/>
                <a:sym typeface="Lato Black"/>
              </a:rPr>
              <a:t>About</a:t>
            </a:r>
            <a:r>
              <a:rPr lang="en-IN" sz="3000" b="0" i="0" u="none" strike="noStrike" cap="none" dirty="0">
                <a:solidFill>
                  <a:srgbClr val="E52328"/>
                </a:solidFill>
                <a:latin typeface="Lato Black"/>
                <a:ea typeface="Lato Black"/>
                <a:cs typeface="Lato Black"/>
                <a:sym typeface="Lato Black"/>
              </a:rPr>
              <a:t> US</a:t>
            </a:r>
            <a:endParaRPr sz="3000" b="0" i="0" u="none" strike="noStrike" cap="none" dirty="0">
              <a:solidFill>
                <a:srgbClr val="E52328"/>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7F5A8-4FE7-E0F9-EA71-CFAD8EB2CD7E}"/>
              </a:ext>
            </a:extLst>
          </p:cNvPr>
          <p:cNvSpPr>
            <a:spLocks noGrp="1"/>
          </p:cNvSpPr>
          <p:nvPr>
            <p:ph type="title"/>
          </p:nvPr>
        </p:nvSpPr>
        <p:spPr>
          <a:xfrm>
            <a:off x="838201" y="365125"/>
            <a:ext cx="5706374" cy="819569"/>
          </a:xfrm>
        </p:spPr>
        <p:txBody>
          <a:bodyPr>
            <a:normAutofit/>
          </a:bodyPr>
          <a:lstStyle/>
          <a:p>
            <a:r>
              <a:rPr lang="en-IN" sz="3000" b="1" dirty="0"/>
              <a:t>Objective of the Project</a:t>
            </a:r>
          </a:p>
        </p:txBody>
      </p:sp>
      <p:sp>
        <p:nvSpPr>
          <p:cNvPr id="3" name="Text Placeholder 2">
            <a:extLst>
              <a:ext uri="{FF2B5EF4-FFF2-40B4-BE49-F238E27FC236}">
                <a16:creationId xmlns:a16="http://schemas.microsoft.com/office/drawing/2014/main" id="{CAD38697-E05D-48C2-D9C4-DAEDB5FB71F9}"/>
              </a:ext>
            </a:extLst>
          </p:cNvPr>
          <p:cNvSpPr>
            <a:spLocks noGrp="1"/>
          </p:cNvSpPr>
          <p:nvPr>
            <p:ph type="body" idx="1"/>
          </p:nvPr>
        </p:nvSpPr>
        <p:spPr/>
        <p:txBody>
          <a:bodyPr>
            <a:normAutofit/>
          </a:bodyPr>
          <a:lstStyle/>
          <a:p>
            <a:r>
              <a:rPr lang="en-US" dirty="0"/>
              <a:t>To analyze a Music Store database using SQL</a:t>
            </a:r>
          </a:p>
          <a:p>
            <a:r>
              <a:rPr lang="en-US" dirty="0"/>
              <a:t>To understand and apply relational database concepts</a:t>
            </a:r>
          </a:p>
          <a:p>
            <a:r>
              <a:rPr lang="en-US" dirty="0"/>
              <a:t>To extract business insights from raw data</a:t>
            </a:r>
          </a:p>
          <a:p>
            <a:r>
              <a:rPr lang="en-US" dirty="0"/>
              <a:t>To practice joins, aggregations, and subqueries</a:t>
            </a:r>
          </a:p>
          <a:p>
            <a:r>
              <a:rPr lang="en-US" dirty="0"/>
              <a:t>To improve real-world SQL data analysis skills</a:t>
            </a:r>
            <a:endParaRPr lang="en-IN" dirty="0"/>
          </a:p>
        </p:txBody>
      </p:sp>
    </p:spTree>
    <p:extLst>
      <p:ext uri="{BB962C8B-B14F-4D97-AF65-F5344CB8AC3E}">
        <p14:creationId xmlns:p14="http://schemas.microsoft.com/office/powerpoint/2010/main" val="720073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C66D3-2F71-289E-022E-726697CF7E62}"/>
              </a:ext>
            </a:extLst>
          </p:cNvPr>
          <p:cNvSpPr>
            <a:spLocks noGrp="1"/>
          </p:cNvSpPr>
          <p:nvPr>
            <p:ph type="title"/>
          </p:nvPr>
        </p:nvSpPr>
        <p:spPr/>
        <p:txBody>
          <a:bodyPr>
            <a:noAutofit/>
          </a:bodyPr>
          <a:lstStyle/>
          <a:p>
            <a:r>
              <a:rPr lang="en-US" sz="3000" b="1" dirty="0"/>
              <a:t>ER Diagram and Schema Explanation</a:t>
            </a:r>
            <a:br>
              <a:rPr lang="en-US" sz="3000" dirty="0"/>
            </a:br>
            <a:endParaRPr lang="en-IN" sz="3000" dirty="0"/>
          </a:p>
        </p:txBody>
      </p:sp>
      <p:sp>
        <p:nvSpPr>
          <p:cNvPr id="3" name="Text Placeholder 2">
            <a:extLst>
              <a:ext uri="{FF2B5EF4-FFF2-40B4-BE49-F238E27FC236}">
                <a16:creationId xmlns:a16="http://schemas.microsoft.com/office/drawing/2014/main" id="{6B3E37B9-39AA-FE54-0A4A-0F4D5DC00847}"/>
              </a:ext>
            </a:extLst>
          </p:cNvPr>
          <p:cNvSpPr>
            <a:spLocks noGrp="1"/>
          </p:cNvSpPr>
          <p:nvPr>
            <p:ph type="body" idx="1"/>
          </p:nvPr>
        </p:nvSpPr>
        <p:spPr>
          <a:xfrm>
            <a:off x="838200" y="1102659"/>
            <a:ext cx="10515600" cy="5545431"/>
          </a:xfrm>
        </p:spPr>
        <p:txBody>
          <a:bodyPr/>
          <a:lstStyle/>
          <a:p>
            <a:pPr marL="114300" indent="0">
              <a:buNone/>
            </a:pPr>
            <a:endParaRPr lang="en-IN" dirty="0"/>
          </a:p>
        </p:txBody>
      </p:sp>
      <p:pic>
        <p:nvPicPr>
          <p:cNvPr id="5" name="Picture 4" descr="A screenshot of a computer&#10;&#10;AI-generated content may be incorrect.">
            <a:extLst>
              <a:ext uri="{FF2B5EF4-FFF2-40B4-BE49-F238E27FC236}">
                <a16:creationId xmlns:a16="http://schemas.microsoft.com/office/drawing/2014/main" id="{62326595-0CBD-6B7E-6208-3EAB42082921}"/>
              </a:ext>
            </a:extLst>
          </p:cNvPr>
          <p:cNvPicPr>
            <a:picLocks noChangeAspect="1"/>
          </p:cNvPicPr>
          <p:nvPr/>
        </p:nvPicPr>
        <p:blipFill>
          <a:blip r:embed="rId2"/>
          <a:stretch>
            <a:fillRect/>
          </a:stretch>
        </p:blipFill>
        <p:spPr>
          <a:xfrm>
            <a:off x="1041882" y="989704"/>
            <a:ext cx="4283492" cy="5225241"/>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8743D1D0-C17E-CB04-0B14-A3CA25058283}"/>
              </a:ext>
            </a:extLst>
          </p:cNvPr>
          <p:cNvPicPr>
            <a:picLocks noChangeAspect="1"/>
          </p:cNvPicPr>
          <p:nvPr/>
        </p:nvPicPr>
        <p:blipFill>
          <a:blip r:embed="rId3"/>
          <a:stretch>
            <a:fillRect/>
          </a:stretch>
        </p:blipFill>
        <p:spPr>
          <a:xfrm>
            <a:off x="7798730" y="1181312"/>
            <a:ext cx="2083573" cy="4255698"/>
          </a:xfrm>
          <a:prstGeom prst="rect">
            <a:avLst/>
          </a:prstGeom>
        </p:spPr>
      </p:pic>
    </p:spTree>
    <p:extLst>
      <p:ext uri="{BB962C8B-B14F-4D97-AF65-F5344CB8AC3E}">
        <p14:creationId xmlns:p14="http://schemas.microsoft.com/office/powerpoint/2010/main" val="2560249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45F6B-ACDE-30D1-203D-3A7A94148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A586C1-0B43-76B6-4F60-B02D1363791E}"/>
              </a:ext>
            </a:extLst>
          </p:cNvPr>
          <p:cNvSpPr>
            <a:spLocks noGrp="1"/>
          </p:cNvSpPr>
          <p:nvPr>
            <p:ph type="title"/>
          </p:nvPr>
        </p:nvSpPr>
        <p:spPr/>
        <p:txBody>
          <a:bodyPr>
            <a:normAutofit fontScale="90000"/>
          </a:bodyPr>
          <a:lstStyle/>
          <a:p>
            <a:r>
              <a:rPr lang="en-US" b="1" dirty="0"/>
              <a:t>ER Diagram and Schema Explanation</a:t>
            </a:r>
            <a:br>
              <a:rPr lang="en-US" dirty="0"/>
            </a:br>
            <a:endParaRPr lang="en-IN" dirty="0"/>
          </a:p>
        </p:txBody>
      </p:sp>
      <p:sp>
        <p:nvSpPr>
          <p:cNvPr id="3" name="Text Placeholder 2">
            <a:extLst>
              <a:ext uri="{FF2B5EF4-FFF2-40B4-BE49-F238E27FC236}">
                <a16:creationId xmlns:a16="http://schemas.microsoft.com/office/drawing/2014/main" id="{E3B1A792-E108-360F-E611-95D851B357AD}"/>
              </a:ext>
            </a:extLst>
          </p:cNvPr>
          <p:cNvSpPr>
            <a:spLocks noGrp="1"/>
          </p:cNvSpPr>
          <p:nvPr>
            <p:ph type="body" idx="1"/>
          </p:nvPr>
        </p:nvSpPr>
        <p:spPr>
          <a:xfrm>
            <a:off x="838200" y="1102659"/>
            <a:ext cx="10515600" cy="5545431"/>
          </a:xfrm>
        </p:spPr>
        <p:txBody>
          <a:bodyPr>
            <a:normAutofit/>
          </a:bodyPr>
          <a:lstStyle/>
          <a:p>
            <a:pPr marL="114300" indent="0">
              <a:buNone/>
            </a:pPr>
            <a:r>
              <a:rPr lang="en-US" b="1" dirty="0"/>
              <a:t>The Music Store Database follows a Relational Schema Design</a:t>
            </a:r>
          </a:p>
          <a:p>
            <a:pPr marL="114300" indent="0">
              <a:buNone/>
            </a:pPr>
            <a:r>
              <a:rPr lang="en-IN" b="1" i="1" u="sng" dirty="0">
                <a:effectLst>
                  <a:outerShdw blurRad="38100" dist="38100" dir="2700000" algn="tl">
                    <a:srgbClr val="000000">
                      <a:alpha val="43137"/>
                    </a:srgbClr>
                  </a:outerShdw>
                </a:effectLst>
              </a:rPr>
              <a:t>Key Tables</a:t>
            </a:r>
            <a:endParaRPr lang="en-US" b="1" i="1" u="sng" dirty="0">
              <a:effectLst>
                <a:outerShdw blurRad="38100" dist="38100" dir="2700000" algn="tl">
                  <a:srgbClr val="000000">
                    <a:alpha val="43137"/>
                  </a:srgbClr>
                </a:outerShdw>
              </a:effectLst>
            </a:endParaRPr>
          </a:p>
          <a:p>
            <a:r>
              <a:rPr lang="en-US" dirty="0">
                <a:solidFill>
                  <a:srgbClr val="E82429"/>
                </a:solidFill>
              </a:rPr>
              <a:t>Employee</a:t>
            </a:r>
            <a:r>
              <a:rPr lang="en-US" dirty="0"/>
              <a:t> – Stores employee details and hierarchy</a:t>
            </a:r>
          </a:p>
          <a:p>
            <a:r>
              <a:rPr lang="en-IN" dirty="0">
                <a:solidFill>
                  <a:srgbClr val="E82429"/>
                </a:solidFill>
              </a:rPr>
              <a:t>Customer</a:t>
            </a:r>
            <a:r>
              <a:rPr lang="en-IN" dirty="0"/>
              <a:t> – Stores customer information</a:t>
            </a:r>
          </a:p>
          <a:p>
            <a:r>
              <a:rPr lang="en-IN" dirty="0"/>
              <a:t> </a:t>
            </a:r>
            <a:r>
              <a:rPr lang="en-IN" dirty="0">
                <a:solidFill>
                  <a:srgbClr val="E82429"/>
                </a:solidFill>
              </a:rPr>
              <a:t>Invoice</a:t>
            </a:r>
            <a:r>
              <a:rPr lang="en-IN" dirty="0"/>
              <a:t> – Records purchase transactions</a:t>
            </a:r>
          </a:p>
          <a:p>
            <a:r>
              <a:rPr lang="en-IN" dirty="0"/>
              <a:t> </a:t>
            </a:r>
            <a:r>
              <a:rPr lang="en-IN" dirty="0" err="1">
                <a:solidFill>
                  <a:srgbClr val="E82429"/>
                </a:solidFill>
              </a:rPr>
              <a:t>InvoiceLine</a:t>
            </a:r>
            <a:r>
              <a:rPr lang="en-IN" dirty="0"/>
              <a:t> – Stores individual track purchases</a:t>
            </a:r>
          </a:p>
          <a:p>
            <a:r>
              <a:rPr lang="en-IN" dirty="0">
                <a:solidFill>
                  <a:srgbClr val="E82429"/>
                </a:solidFill>
              </a:rPr>
              <a:t>Track</a:t>
            </a:r>
            <a:r>
              <a:rPr lang="en-IN" dirty="0"/>
              <a:t> – Contains song details</a:t>
            </a:r>
          </a:p>
          <a:p>
            <a:r>
              <a:rPr lang="en-IN" dirty="0">
                <a:solidFill>
                  <a:srgbClr val="E82429"/>
                </a:solidFill>
              </a:rPr>
              <a:t>Album</a:t>
            </a:r>
            <a:r>
              <a:rPr lang="en-IN" dirty="0"/>
              <a:t> – Groups tracks under albums</a:t>
            </a:r>
          </a:p>
          <a:p>
            <a:r>
              <a:rPr lang="en-IN" dirty="0"/>
              <a:t> </a:t>
            </a:r>
            <a:r>
              <a:rPr lang="en-IN" dirty="0">
                <a:solidFill>
                  <a:srgbClr val="E82429"/>
                </a:solidFill>
              </a:rPr>
              <a:t>Artist</a:t>
            </a:r>
            <a:r>
              <a:rPr lang="en-IN" dirty="0"/>
              <a:t> – Stores artist information</a:t>
            </a:r>
          </a:p>
          <a:p>
            <a:r>
              <a:rPr lang="en-IN" dirty="0"/>
              <a:t> </a:t>
            </a:r>
            <a:r>
              <a:rPr lang="en-IN" dirty="0">
                <a:solidFill>
                  <a:srgbClr val="E82429"/>
                </a:solidFill>
              </a:rPr>
              <a:t>Genre</a:t>
            </a:r>
            <a:r>
              <a:rPr lang="en-IN" dirty="0"/>
              <a:t> – Classifies music genres</a:t>
            </a:r>
          </a:p>
        </p:txBody>
      </p:sp>
    </p:spTree>
    <p:extLst>
      <p:ext uri="{BB962C8B-B14F-4D97-AF65-F5344CB8AC3E}">
        <p14:creationId xmlns:p14="http://schemas.microsoft.com/office/powerpoint/2010/main" val="1561091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07A08-2316-2124-1035-3A708C528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496C2D-E1B2-46FF-A3D8-97D6D51570EE}"/>
              </a:ext>
            </a:extLst>
          </p:cNvPr>
          <p:cNvSpPr>
            <a:spLocks noGrp="1"/>
          </p:cNvSpPr>
          <p:nvPr>
            <p:ph type="title"/>
          </p:nvPr>
        </p:nvSpPr>
        <p:spPr/>
        <p:txBody>
          <a:bodyPr>
            <a:normAutofit fontScale="90000"/>
          </a:bodyPr>
          <a:lstStyle/>
          <a:p>
            <a:r>
              <a:rPr lang="en-US" b="1" dirty="0"/>
              <a:t>ER Diagram and schema explanation</a:t>
            </a:r>
            <a:br>
              <a:rPr lang="en-US" dirty="0"/>
            </a:br>
            <a:endParaRPr lang="en-IN" dirty="0"/>
          </a:p>
        </p:txBody>
      </p:sp>
      <p:sp>
        <p:nvSpPr>
          <p:cNvPr id="3" name="Text Placeholder 2">
            <a:extLst>
              <a:ext uri="{FF2B5EF4-FFF2-40B4-BE49-F238E27FC236}">
                <a16:creationId xmlns:a16="http://schemas.microsoft.com/office/drawing/2014/main" id="{867C3762-0D5E-84CE-7FD3-B4CC88BAB807}"/>
              </a:ext>
            </a:extLst>
          </p:cNvPr>
          <p:cNvSpPr>
            <a:spLocks noGrp="1"/>
          </p:cNvSpPr>
          <p:nvPr>
            <p:ph type="body" idx="1"/>
          </p:nvPr>
        </p:nvSpPr>
        <p:spPr>
          <a:xfrm>
            <a:off x="838200" y="1102659"/>
            <a:ext cx="10515600" cy="5545431"/>
          </a:xfrm>
        </p:spPr>
        <p:txBody>
          <a:bodyPr>
            <a:normAutofit/>
          </a:bodyPr>
          <a:lstStyle/>
          <a:p>
            <a:pPr marL="114300" indent="0">
              <a:buNone/>
            </a:pPr>
            <a:r>
              <a:rPr lang="en-US" b="1" dirty="0"/>
              <a:t>The Music Store Database follows a Relational Schema Design</a:t>
            </a:r>
          </a:p>
          <a:p>
            <a:pPr marL="114300" indent="0">
              <a:buNone/>
            </a:pPr>
            <a:r>
              <a:rPr lang="en-IN" b="1" i="1" u="sng" dirty="0">
                <a:effectLst>
                  <a:outerShdw blurRad="38100" dist="38100" dir="2700000" algn="tl">
                    <a:srgbClr val="000000">
                      <a:alpha val="43137"/>
                    </a:srgbClr>
                  </a:outerShdw>
                </a:effectLst>
              </a:rPr>
              <a:t>Relationships</a:t>
            </a:r>
          </a:p>
          <a:p>
            <a:r>
              <a:rPr lang="en-US" dirty="0">
                <a:solidFill>
                  <a:srgbClr val="E82429"/>
                </a:solidFill>
              </a:rPr>
              <a:t>One</a:t>
            </a:r>
            <a:r>
              <a:rPr lang="en-US" dirty="0"/>
              <a:t> customer can have </a:t>
            </a:r>
            <a:r>
              <a:rPr lang="en-US" dirty="0">
                <a:solidFill>
                  <a:srgbClr val="E82429"/>
                </a:solidFill>
              </a:rPr>
              <a:t>multiple</a:t>
            </a:r>
            <a:r>
              <a:rPr lang="en-US" dirty="0"/>
              <a:t> invoices</a:t>
            </a:r>
          </a:p>
          <a:p>
            <a:r>
              <a:rPr lang="en-US" dirty="0">
                <a:solidFill>
                  <a:srgbClr val="E82429"/>
                </a:solidFill>
              </a:rPr>
              <a:t>One</a:t>
            </a:r>
            <a:r>
              <a:rPr lang="en-US" dirty="0"/>
              <a:t> invoice can have </a:t>
            </a:r>
            <a:r>
              <a:rPr lang="en-US" dirty="0">
                <a:solidFill>
                  <a:srgbClr val="E82429"/>
                </a:solidFill>
              </a:rPr>
              <a:t>multiple</a:t>
            </a:r>
            <a:r>
              <a:rPr lang="en-US" dirty="0"/>
              <a:t> invoice lines</a:t>
            </a:r>
          </a:p>
          <a:p>
            <a:r>
              <a:rPr lang="en-US" dirty="0">
                <a:solidFill>
                  <a:srgbClr val="E82429"/>
                </a:solidFill>
              </a:rPr>
              <a:t>Each</a:t>
            </a:r>
            <a:r>
              <a:rPr lang="en-US" dirty="0"/>
              <a:t> track belongs to </a:t>
            </a:r>
            <a:r>
              <a:rPr lang="en-US" dirty="0">
                <a:solidFill>
                  <a:srgbClr val="E82429"/>
                </a:solidFill>
              </a:rPr>
              <a:t>one</a:t>
            </a:r>
            <a:r>
              <a:rPr lang="en-US" dirty="0"/>
              <a:t> genre and </a:t>
            </a:r>
            <a:r>
              <a:rPr lang="en-US" dirty="0">
                <a:solidFill>
                  <a:srgbClr val="E82429"/>
                </a:solidFill>
              </a:rPr>
              <a:t>one</a:t>
            </a:r>
            <a:r>
              <a:rPr lang="en-US" dirty="0"/>
              <a:t> album</a:t>
            </a:r>
          </a:p>
          <a:p>
            <a:r>
              <a:rPr lang="en-US" dirty="0"/>
              <a:t> </a:t>
            </a:r>
            <a:r>
              <a:rPr lang="en-US" dirty="0">
                <a:solidFill>
                  <a:srgbClr val="E82429"/>
                </a:solidFill>
              </a:rPr>
              <a:t>Each</a:t>
            </a:r>
            <a:r>
              <a:rPr lang="en-US" dirty="0"/>
              <a:t> album is linked to </a:t>
            </a:r>
            <a:r>
              <a:rPr lang="en-US" dirty="0">
                <a:solidFill>
                  <a:srgbClr val="E82429"/>
                </a:solidFill>
              </a:rPr>
              <a:t>one</a:t>
            </a:r>
            <a:r>
              <a:rPr lang="en-US" dirty="0"/>
              <a:t> artist</a:t>
            </a:r>
            <a:endParaRPr lang="en-IN" dirty="0"/>
          </a:p>
        </p:txBody>
      </p:sp>
    </p:spTree>
    <p:extLst>
      <p:ext uri="{BB962C8B-B14F-4D97-AF65-F5344CB8AC3E}">
        <p14:creationId xmlns:p14="http://schemas.microsoft.com/office/powerpoint/2010/main" val="122169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BC8D6-3A50-CE1D-F540-6B82441A8DE7}"/>
              </a:ext>
            </a:extLst>
          </p:cNvPr>
          <p:cNvSpPr>
            <a:spLocks noGrp="1"/>
          </p:cNvSpPr>
          <p:nvPr>
            <p:ph type="title"/>
          </p:nvPr>
        </p:nvSpPr>
        <p:spPr/>
        <p:txBody>
          <a:bodyPr anchor="t">
            <a:normAutofit fontScale="90000"/>
          </a:bodyPr>
          <a:lstStyle/>
          <a:p>
            <a:r>
              <a:rPr lang="en-US" b="1" dirty="0"/>
              <a:t>Key analysis questions (use cases)</a:t>
            </a:r>
            <a:br>
              <a:rPr lang="en-US" b="1" dirty="0"/>
            </a:br>
            <a:br>
              <a:rPr lang="en-US" b="1" dirty="0"/>
            </a:br>
            <a:r>
              <a:rPr lang="en-US" sz="2700" dirty="0"/>
              <a:t>The questions were centered around</a:t>
            </a:r>
            <a:br>
              <a:rPr lang="en-US" sz="2700" dirty="0"/>
            </a:br>
            <a:endParaRPr lang="en-IN" sz="2700" dirty="0"/>
          </a:p>
        </p:txBody>
      </p:sp>
      <p:sp>
        <p:nvSpPr>
          <p:cNvPr id="4" name="Rectangle 1">
            <a:extLst>
              <a:ext uri="{FF2B5EF4-FFF2-40B4-BE49-F238E27FC236}">
                <a16:creationId xmlns:a16="http://schemas.microsoft.com/office/drawing/2014/main" id="{2CE4401F-59FF-9269-2725-6807B96841F1}"/>
              </a:ext>
            </a:extLst>
          </p:cNvPr>
          <p:cNvSpPr>
            <a:spLocks noGrp="1" noChangeArrowheads="1"/>
          </p:cNvSpPr>
          <p:nvPr>
            <p:ph type="body" idx="1"/>
          </p:nvPr>
        </p:nvSpPr>
        <p:spPr bwMode="auto">
          <a:xfrm>
            <a:off x="838200" y="1500327"/>
            <a:ext cx="608371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Employee Hierarchy Analysis.</a:t>
            </a:r>
            <a:endParaRPr lang="en-US" altLang="en-US" sz="1800" dirty="0">
              <a:solidFill>
                <a:schemeClr val="tx1"/>
              </a:solidFill>
              <a:latin typeface="Arial" panose="020B0604020202020204" pitchFamily="34" charset="0"/>
            </a:endParaRPr>
          </a:p>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Geographical Invoice Distribution.</a:t>
            </a:r>
            <a:endParaRPr lang="en-US" altLang="en-US" sz="1800" dirty="0">
              <a:solidFill>
                <a:schemeClr val="tx1"/>
              </a:solidFill>
              <a:latin typeface="Arial" panose="020B0604020202020204" pitchFamily="34" charset="0"/>
            </a:endParaRPr>
          </a:p>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High-Value Transactions.</a:t>
            </a:r>
          </a:p>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Revenue by City.</a:t>
            </a:r>
            <a:endParaRPr lang="en-US" altLang="en-US" sz="1800" dirty="0">
              <a:solidFill>
                <a:schemeClr val="tx1"/>
              </a:solidFill>
              <a:latin typeface="Arial" panose="020B0604020202020204" pitchFamily="34" charset="0"/>
            </a:endParaRPr>
          </a:p>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Best Customer Identification.</a:t>
            </a:r>
            <a:endParaRPr lang="en-US" altLang="en-US" sz="1800" dirty="0">
              <a:solidFill>
                <a:schemeClr val="tx1"/>
              </a:solidFill>
              <a:latin typeface="Arial" panose="020B0604020202020204" pitchFamily="34" charset="0"/>
            </a:endParaRPr>
          </a:p>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Genre-Based Customer Preferences (Rock Listeners).</a:t>
            </a:r>
            <a:endParaRPr lang="en-US" altLang="en-US" sz="1800" dirty="0">
              <a:solidFill>
                <a:schemeClr val="tx1"/>
              </a:solidFill>
              <a:latin typeface="Arial" panose="020B0604020202020204" pitchFamily="34" charset="0"/>
            </a:endParaRPr>
          </a:p>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Top Rock Artists by Track Count.</a:t>
            </a:r>
            <a:endParaRPr lang="en-US" altLang="en-US" sz="1800" dirty="0">
              <a:solidFill>
                <a:schemeClr val="tx1"/>
              </a:solidFill>
              <a:latin typeface="Arial" panose="020B0604020202020204" pitchFamily="34" charset="0"/>
            </a:endParaRPr>
          </a:p>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Track Duration Analysis.</a:t>
            </a:r>
            <a:endParaRPr lang="en-US" altLang="en-US" sz="1800" dirty="0">
              <a:solidFill>
                <a:schemeClr val="tx1"/>
              </a:solidFill>
              <a:latin typeface="Arial" panose="020B0604020202020204" pitchFamily="34" charset="0"/>
            </a:endParaRPr>
          </a:p>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Customer Spending by Artist.</a:t>
            </a:r>
          </a:p>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Most Popular Genre by Country.</a:t>
            </a:r>
            <a:endParaRPr lang="en-US" altLang="en-US" sz="1800" dirty="0">
              <a:solidFill>
                <a:schemeClr val="tx1"/>
              </a:solidFill>
              <a:latin typeface="Arial" panose="020B0604020202020204" pitchFamily="34" charset="0"/>
            </a:endParaRPr>
          </a:p>
          <a:p>
            <a:pPr marL="342900" eaLnBrk="0" fontAlgn="base" hangingPunct="0">
              <a:lnSpc>
                <a:spcPct val="100000"/>
              </a:lnSpc>
              <a:spcBef>
                <a:spcPct val="0"/>
              </a:spcBef>
              <a:spcAft>
                <a:spcPct val="0"/>
              </a:spcAft>
              <a:buClrTx/>
              <a:buSzTx/>
              <a:buFont typeface="+mj-lt"/>
              <a:buAutoNum type="arabicPeriod"/>
            </a:pPr>
            <a:r>
              <a:rPr kumimoji="0" lang="en-US" altLang="en-US" sz="1800" i="0" u="none" strike="noStrike" cap="none" normalizeH="0" baseline="0" dirty="0">
                <a:ln>
                  <a:noFill/>
                </a:ln>
                <a:solidFill>
                  <a:schemeClr val="tx1"/>
                </a:solidFill>
                <a:effectLst/>
                <a:latin typeface="Arial" panose="020B0604020202020204" pitchFamily="34" charset="0"/>
              </a:rPr>
              <a:t>Top-Spending Customer by Country.</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94856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71555-051C-131F-15CB-21E602337FE7}"/>
              </a:ext>
            </a:extLst>
          </p:cNvPr>
          <p:cNvSpPr>
            <a:spLocks noGrp="1"/>
          </p:cNvSpPr>
          <p:nvPr>
            <p:ph type="title"/>
          </p:nvPr>
        </p:nvSpPr>
        <p:spPr/>
        <p:txBody>
          <a:bodyPr>
            <a:normAutofit fontScale="90000"/>
          </a:bodyPr>
          <a:lstStyle/>
          <a:p>
            <a:r>
              <a:rPr lang="en-US" b="1" dirty="0"/>
              <a:t>SQL query results with screenshots or summaries</a:t>
            </a:r>
            <a:br>
              <a:rPr lang="en-US" dirty="0"/>
            </a:br>
            <a:endParaRPr lang="en-IN" dirty="0"/>
          </a:p>
        </p:txBody>
      </p:sp>
      <p:sp>
        <p:nvSpPr>
          <p:cNvPr id="3" name="Text Placeholder 2">
            <a:extLst>
              <a:ext uri="{FF2B5EF4-FFF2-40B4-BE49-F238E27FC236}">
                <a16:creationId xmlns:a16="http://schemas.microsoft.com/office/drawing/2014/main" id="{0B23AB4E-C8AE-EA7B-903D-929CD97FF0CE}"/>
              </a:ext>
            </a:extLst>
          </p:cNvPr>
          <p:cNvSpPr>
            <a:spLocks noGrp="1"/>
          </p:cNvSpPr>
          <p:nvPr>
            <p:ph type="body" idx="1"/>
          </p:nvPr>
        </p:nvSpPr>
        <p:spPr/>
        <p:txBody>
          <a:bodyPr/>
          <a:lstStyle/>
          <a:p>
            <a:endParaRPr lang="en-IN" dirty="0"/>
          </a:p>
        </p:txBody>
      </p:sp>
      <p:pic>
        <p:nvPicPr>
          <p:cNvPr id="5" name="Picture 4" descr="A screenshot of a computer program&#10;&#10;AI-generated content may be incorrect.">
            <a:extLst>
              <a:ext uri="{FF2B5EF4-FFF2-40B4-BE49-F238E27FC236}">
                <a16:creationId xmlns:a16="http://schemas.microsoft.com/office/drawing/2014/main" id="{D61CC901-C2A9-161F-F932-D886F61D4285}"/>
              </a:ext>
            </a:extLst>
          </p:cNvPr>
          <p:cNvPicPr>
            <a:picLocks noChangeAspect="1"/>
          </p:cNvPicPr>
          <p:nvPr/>
        </p:nvPicPr>
        <p:blipFill>
          <a:blip r:embed="rId2"/>
          <a:stretch>
            <a:fillRect/>
          </a:stretch>
        </p:blipFill>
        <p:spPr>
          <a:xfrm>
            <a:off x="1087121" y="1270959"/>
            <a:ext cx="3922991" cy="5074304"/>
          </a:xfrm>
          <a:prstGeom prst="rect">
            <a:avLst/>
          </a:prstGeom>
        </p:spPr>
      </p:pic>
      <p:pic>
        <p:nvPicPr>
          <p:cNvPr id="7" name="Picture 6" descr="A white background with black text&#10;&#10;AI-generated content may be incorrect.">
            <a:extLst>
              <a:ext uri="{FF2B5EF4-FFF2-40B4-BE49-F238E27FC236}">
                <a16:creationId xmlns:a16="http://schemas.microsoft.com/office/drawing/2014/main" id="{6E079F5B-166D-8EC0-3A7A-772B50D5AE9A}"/>
              </a:ext>
            </a:extLst>
          </p:cNvPr>
          <p:cNvPicPr>
            <a:picLocks noChangeAspect="1"/>
          </p:cNvPicPr>
          <p:nvPr/>
        </p:nvPicPr>
        <p:blipFill>
          <a:blip r:embed="rId3"/>
          <a:stretch>
            <a:fillRect/>
          </a:stretch>
        </p:blipFill>
        <p:spPr>
          <a:xfrm>
            <a:off x="5010112" y="1270959"/>
            <a:ext cx="4200728" cy="1359204"/>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1391054C-9225-7CD8-C553-E0E755CBA537}"/>
              </a:ext>
            </a:extLst>
          </p:cNvPr>
          <p:cNvPicPr>
            <a:picLocks noChangeAspect="1"/>
          </p:cNvPicPr>
          <p:nvPr/>
        </p:nvPicPr>
        <p:blipFill>
          <a:blip r:embed="rId4"/>
          <a:stretch>
            <a:fillRect/>
          </a:stretch>
        </p:blipFill>
        <p:spPr>
          <a:xfrm>
            <a:off x="5259033" y="3808111"/>
            <a:ext cx="2267266" cy="1000265"/>
          </a:xfrm>
          <a:prstGeom prst="rect">
            <a:avLst/>
          </a:prstGeom>
        </p:spPr>
      </p:pic>
      <p:sp>
        <p:nvSpPr>
          <p:cNvPr id="10" name="TextBox 9">
            <a:extLst>
              <a:ext uri="{FF2B5EF4-FFF2-40B4-BE49-F238E27FC236}">
                <a16:creationId xmlns:a16="http://schemas.microsoft.com/office/drawing/2014/main" id="{04FD72D4-F595-FAD7-9922-26CF5B531FFB}"/>
              </a:ext>
            </a:extLst>
          </p:cNvPr>
          <p:cNvSpPr txBox="1"/>
          <p:nvPr/>
        </p:nvSpPr>
        <p:spPr>
          <a:xfrm>
            <a:off x="786442" y="835815"/>
            <a:ext cx="10515600" cy="307777"/>
          </a:xfrm>
          <a:prstGeom prst="rect">
            <a:avLst/>
          </a:prstGeom>
          <a:noFill/>
        </p:spPr>
        <p:txBody>
          <a:bodyPr wrap="square" rtlCol="0">
            <a:spAutoFit/>
          </a:bodyPr>
          <a:lstStyle/>
          <a:p>
            <a:r>
              <a:rPr lang="en-US" dirty="0"/>
              <a:t>1. Who is the senior most employee based on job title? </a:t>
            </a:r>
            <a:endParaRPr lang="en-IN" dirty="0"/>
          </a:p>
        </p:txBody>
      </p:sp>
    </p:spTree>
    <p:extLst>
      <p:ext uri="{BB962C8B-B14F-4D97-AF65-F5344CB8AC3E}">
        <p14:creationId xmlns:p14="http://schemas.microsoft.com/office/powerpoint/2010/main" val="3331598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660723D-1881-CC42-FE3A-947017C67E8F}"/>
              </a:ext>
            </a:extLst>
          </p:cNvPr>
          <p:cNvSpPr txBox="1"/>
          <p:nvPr/>
        </p:nvSpPr>
        <p:spPr>
          <a:xfrm>
            <a:off x="724619" y="723131"/>
            <a:ext cx="6096000" cy="307777"/>
          </a:xfrm>
          <a:prstGeom prst="rect">
            <a:avLst/>
          </a:prstGeom>
          <a:noFill/>
        </p:spPr>
        <p:txBody>
          <a:bodyPr wrap="square">
            <a:spAutoFit/>
          </a:bodyPr>
          <a:lstStyle/>
          <a:p>
            <a:r>
              <a:rPr lang="en-US" dirty="0"/>
              <a:t>2. Which countries have the most Invoices? </a:t>
            </a:r>
            <a:endParaRPr lang="en-IN" dirty="0"/>
          </a:p>
        </p:txBody>
      </p:sp>
      <p:pic>
        <p:nvPicPr>
          <p:cNvPr id="7" name="Picture 6" descr="A screenshot of a computer code&#10;&#10;AI-generated content may be incorrect.">
            <a:extLst>
              <a:ext uri="{FF2B5EF4-FFF2-40B4-BE49-F238E27FC236}">
                <a16:creationId xmlns:a16="http://schemas.microsoft.com/office/drawing/2014/main" id="{D0AD3FA2-77EF-2223-57B8-FC3F11D97473}"/>
              </a:ext>
            </a:extLst>
          </p:cNvPr>
          <p:cNvPicPr>
            <a:picLocks noChangeAspect="1"/>
          </p:cNvPicPr>
          <p:nvPr/>
        </p:nvPicPr>
        <p:blipFill>
          <a:blip r:embed="rId2"/>
          <a:stretch>
            <a:fillRect/>
          </a:stretch>
        </p:blipFill>
        <p:spPr>
          <a:xfrm>
            <a:off x="860719" y="1202711"/>
            <a:ext cx="3025639" cy="2226289"/>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854683B2-A6F8-D01D-AC5C-C246C3875349}"/>
              </a:ext>
            </a:extLst>
          </p:cNvPr>
          <p:cNvPicPr>
            <a:picLocks noChangeAspect="1"/>
          </p:cNvPicPr>
          <p:nvPr/>
        </p:nvPicPr>
        <p:blipFill>
          <a:blip r:embed="rId3"/>
          <a:stretch>
            <a:fillRect/>
          </a:stretch>
        </p:blipFill>
        <p:spPr>
          <a:xfrm>
            <a:off x="909821" y="3864634"/>
            <a:ext cx="2812321" cy="1637554"/>
          </a:xfrm>
          <a:prstGeom prst="rect">
            <a:avLst/>
          </a:prstGeom>
        </p:spPr>
      </p:pic>
    </p:spTree>
    <p:extLst>
      <p:ext uri="{BB962C8B-B14F-4D97-AF65-F5344CB8AC3E}">
        <p14:creationId xmlns:p14="http://schemas.microsoft.com/office/powerpoint/2010/main" val="3968903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50EC1-8331-87AC-D3F6-0BAAF206A99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F0CAF51-FCED-0732-8538-0F846CE7425A}"/>
              </a:ext>
            </a:extLst>
          </p:cNvPr>
          <p:cNvSpPr txBox="1"/>
          <p:nvPr/>
        </p:nvSpPr>
        <p:spPr>
          <a:xfrm>
            <a:off x="724619" y="723131"/>
            <a:ext cx="6096000" cy="307777"/>
          </a:xfrm>
          <a:prstGeom prst="rect">
            <a:avLst/>
          </a:prstGeom>
          <a:noFill/>
        </p:spPr>
        <p:txBody>
          <a:bodyPr wrap="square">
            <a:spAutoFit/>
          </a:bodyPr>
          <a:lstStyle/>
          <a:p>
            <a:r>
              <a:rPr lang="en-US" dirty="0"/>
              <a:t>3. What are the top 3 values of total invoice? </a:t>
            </a:r>
            <a:endParaRPr lang="en-IN" dirty="0"/>
          </a:p>
        </p:txBody>
      </p:sp>
      <p:pic>
        <p:nvPicPr>
          <p:cNvPr id="3" name="Picture 2" descr="A screenshot of a computer screen&#10;&#10;AI-generated content may be incorrect.">
            <a:extLst>
              <a:ext uri="{FF2B5EF4-FFF2-40B4-BE49-F238E27FC236}">
                <a16:creationId xmlns:a16="http://schemas.microsoft.com/office/drawing/2014/main" id="{7DA1C339-8CE4-F42F-6F3F-F8EA4EBD85B9}"/>
              </a:ext>
            </a:extLst>
          </p:cNvPr>
          <p:cNvPicPr>
            <a:picLocks noChangeAspect="1"/>
          </p:cNvPicPr>
          <p:nvPr/>
        </p:nvPicPr>
        <p:blipFill>
          <a:blip r:embed="rId2"/>
          <a:stretch>
            <a:fillRect/>
          </a:stretch>
        </p:blipFill>
        <p:spPr>
          <a:xfrm>
            <a:off x="722841" y="1477394"/>
            <a:ext cx="2275633" cy="1570606"/>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30B324E6-BEAB-82E0-7869-3F160DAFB490}"/>
              </a:ext>
            </a:extLst>
          </p:cNvPr>
          <p:cNvPicPr>
            <a:picLocks noChangeAspect="1"/>
          </p:cNvPicPr>
          <p:nvPr/>
        </p:nvPicPr>
        <p:blipFill>
          <a:blip r:embed="rId3"/>
          <a:stretch>
            <a:fillRect/>
          </a:stretch>
        </p:blipFill>
        <p:spPr>
          <a:xfrm>
            <a:off x="921296" y="3133707"/>
            <a:ext cx="1403318" cy="1329025"/>
          </a:xfrm>
          <a:prstGeom prst="rect">
            <a:avLst/>
          </a:prstGeom>
        </p:spPr>
      </p:pic>
    </p:spTree>
    <p:extLst>
      <p:ext uri="{BB962C8B-B14F-4D97-AF65-F5344CB8AC3E}">
        <p14:creationId xmlns:p14="http://schemas.microsoft.com/office/powerpoint/2010/main" val="1901774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86CEB-D8CE-6F45-B7FD-C0C9748FA58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C60836B-1918-60F3-88F9-623AE2C3BEDD}"/>
              </a:ext>
            </a:extLst>
          </p:cNvPr>
          <p:cNvSpPr txBox="1"/>
          <p:nvPr/>
        </p:nvSpPr>
        <p:spPr>
          <a:xfrm>
            <a:off x="724618" y="723131"/>
            <a:ext cx="10501223" cy="523220"/>
          </a:xfrm>
          <a:prstGeom prst="rect">
            <a:avLst/>
          </a:prstGeom>
          <a:noFill/>
        </p:spPr>
        <p:txBody>
          <a:bodyPr wrap="square">
            <a:spAutoFit/>
          </a:bodyPr>
          <a:lstStyle/>
          <a:p>
            <a:r>
              <a:rPr lang="en-US" dirty="0"/>
              <a:t>4. Which city has the best customers? - We would like to throw a promotional Music Festival in the city we made the most money. Write a query that returns one city that has the highest sum of invoice totals. Return both the city name &amp; sum of all invoice totals. </a:t>
            </a:r>
            <a:endParaRPr lang="en-IN" dirty="0"/>
          </a:p>
        </p:txBody>
      </p:sp>
      <p:pic>
        <p:nvPicPr>
          <p:cNvPr id="3" name="Picture 2" descr="A screenshot of a computer code&#10;&#10;AI-generated content may be incorrect.">
            <a:extLst>
              <a:ext uri="{FF2B5EF4-FFF2-40B4-BE49-F238E27FC236}">
                <a16:creationId xmlns:a16="http://schemas.microsoft.com/office/drawing/2014/main" id="{07763E37-A7C8-3A1D-5991-54C6BDC78241}"/>
              </a:ext>
            </a:extLst>
          </p:cNvPr>
          <p:cNvPicPr>
            <a:picLocks noChangeAspect="1"/>
          </p:cNvPicPr>
          <p:nvPr/>
        </p:nvPicPr>
        <p:blipFill>
          <a:blip r:embed="rId2"/>
          <a:stretch>
            <a:fillRect/>
          </a:stretch>
        </p:blipFill>
        <p:spPr>
          <a:xfrm>
            <a:off x="684264" y="1548278"/>
            <a:ext cx="3200341" cy="1649362"/>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BF3B5BA4-3348-0690-94D5-56CA22E81A8B}"/>
              </a:ext>
            </a:extLst>
          </p:cNvPr>
          <p:cNvPicPr>
            <a:picLocks noChangeAspect="1"/>
          </p:cNvPicPr>
          <p:nvPr/>
        </p:nvPicPr>
        <p:blipFill>
          <a:blip r:embed="rId3"/>
          <a:stretch>
            <a:fillRect/>
          </a:stretch>
        </p:blipFill>
        <p:spPr>
          <a:xfrm>
            <a:off x="811616" y="3434866"/>
            <a:ext cx="3024264" cy="728817"/>
          </a:xfrm>
          <a:prstGeom prst="rect">
            <a:avLst/>
          </a:prstGeom>
        </p:spPr>
      </p:pic>
    </p:spTree>
    <p:extLst>
      <p:ext uri="{BB962C8B-B14F-4D97-AF65-F5344CB8AC3E}">
        <p14:creationId xmlns:p14="http://schemas.microsoft.com/office/powerpoint/2010/main" val="3942690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1B766-921B-0397-0B17-29BE246A932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A9874F2-2756-A8C6-DC1C-DF16497E8E8B}"/>
              </a:ext>
            </a:extLst>
          </p:cNvPr>
          <p:cNvSpPr txBox="1"/>
          <p:nvPr/>
        </p:nvSpPr>
        <p:spPr>
          <a:xfrm>
            <a:off x="724618" y="723131"/>
            <a:ext cx="10892287" cy="523220"/>
          </a:xfrm>
          <a:prstGeom prst="rect">
            <a:avLst/>
          </a:prstGeom>
          <a:noFill/>
        </p:spPr>
        <p:txBody>
          <a:bodyPr wrap="square">
            <a:spAutoFit/>
          </a:bodyPr>
          <a:lstStyle/>
          <a:p>
            <a:r>
              <a:rPr lang="en-US" dirty="0"/>
              <a:t>5. Who is the best customer? - The customer who has spent the most money will be declared the best customer. Write a query that returns the person who has spent the most money.</a:t>
            </a:r>
            <a:endParaRPr lang="en-IN" dirty="0"/>
          </a:p>
        </p:txBody>
      </p:sp>
      <p:pic>
        <p:nvPicPr>
          <p:cNvPr id="3" name="Picture 2" descr="A screenshot of a computer code&#10;&#10;AI-generated content may be incorrect.">
            <a:extLst>
              <a:ext uri="{FF2B5EF4-FFF2-40B4-BE49-F238E27FC236}">
                <a16:creationId xmlns:a16="http://schemas.microsoft.com/office/drawing/2014/main" id="{1DFF6B2D-F1F5-B678-7674-D456EDE44D6B}"/>
              </a:ext>
            </a:extLst>
          </p:cNvPr>
          <p:cNvPicPr>
            <a:picLocks noChangeAspect="1"/>
          </p:cNvPicPr>
          <p:nvPr/>
        </p:nvPicPr>
        <p:blipFill>
          <a:blip r:embed="rId2"/>
          <a:stretch>
            <a:fillRect/>
          </a:stretch>
        </p:blipFill>
        <p:spPr>
          <a:xfrm>
            <a:off x="767390" y="1318633"/>
            <a:ext cx="3388396" cy="290256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ED1CA76B-C2FE-21C0-8938-D971725DF90B}"/>
              </a:ext>
            </a:extLst>
          </p:cNvPr>
          <p:cNvPicPr>
            <a:picLocks noChangeAspect="1"/>
          </p:cNvPicPr>
          <p:nvPr/>
        </p:nvPicPr>
        <p:blipFill>
          <a:blip r:embed="rId3"/>
          <a:stretch>
            <a:fillRect/>
          </a:stretch>
        </p:blipFill>
        <p:spPr>
          <a:xfrm>
            <a:off x="767391" y="4118149"/>
            <a:ext cx="3388396" cy="633707"/>
          </a:xfrm>
          <a:prstGeom prst="rect">
            <a:avLst/>
          </a:prstGeom>
        </p:spPr>
      </p:pic>
    </p:spTree>
    <p:extLst>
      <p:ext uri="{BB962C8B-B14F-4D97-AF65-F5344CB8AC3E}">
        <p14:creationId xmlns:p14="http://schemas.microsoft.com/office/powerpoint/2010/main" val="3349261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8D5DB-8CD5-BF61-83E8-CF51735BC04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09BEE25-81BC-341A-B447-1678435025B5}"/>
              </a:ext>
            </a:extLst>
          </p:cNvPr>
          <p:cNvSpPr txBox="1"/>
          <p:nvPr/>
        </p:nvSpPr>
        <p:spPr>
          <a:xfrm>
            <a:off x="724618" y="723131"/>
            <a:ext cx="10869283" cy="523220"/>
          </a:xfrm>
          <a:prstGeom prst="rect">
            <a:avLst/>
          </a:prstGeom>
          <a:noFill/>
        </p:spPr>
        <p:txBody>
          <a:bodyPr wrap="square">
            <a:spAutoFit/>
          </a:bodyPr>
          <a:lstStyle/>
          <a:p>
            <a:r>
              <a:rPr lang="en-US" dirty="0"/>
              <a:t>6. Write a query to return the email, first name, last name, &amp; Genre of all Rock Music listeners. Return your list ordered alphabetically by email starting with A. </a:t>
            </a:r>
            <a:endParaRPr lang="en-IN" dirty="0"/>
          </a:p>
        </p:txBody>
      </p:sp>
      <p:pic>
        <p:nvPicPr>
          <p:cNvPr id="3" name="Picture 2" descr="A screenshot of a computer code&#10;&#10;AI-generated content may be incorrect.">
            <a:extLst>
              <a:ext uri="{FF2B5EF4-FFF2-40B4-BE49-F238E27FC236}">
                <a16:creationId xmlns:a16="http://schemas.microsoft.com/office/drawing/2014/main" id="{1BE4B76F-7BE5-E19B-531C-AB4B5CE87816}"/>
              </a:ext>
            </a:extLst>
          </p:cNvPr>
          <p:cNvPicPr>
            <a:picLocks noChangeAspect="1"/>
          </p:cNvPicPr>
          <p:nvPr/>
        </p:nvPicPr>
        <p:blipFill>
          <a:blip r:embed="rId2"/>
          <a:stretch>
            <a:fillRect/>
          </a:stretch>
        </p:blipFill>
        <p:spPr>
          <a:xfrm>
            <a:off x="799507" y="1445463"/>
            <a:ext cx="4410848" cy="3158098"/>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8C121DDC-DD7E-D0E9-2B48-90AD167C363F}"/>
              </a:ext>
            </a:extLst>
          </p:cNvPr>
          <p:cNvPicPr>
            <a:picLocks noChangeAspect="1"/>
          </p:cNvPicPr>
          <p:nvPr/>
        </p:nvPicPr>
        <p:blipFill>
          <a:blip r:embed="rId3"/>
          <a:stretch>
            <a:fillRect/>
          </a:stretch>
        </p:blipFill>
        <p:spPr>
          <a:xfrm>
            <a:off x="6096000" y="1295400"/>
            <a:ext cx="3759949" cy="4426789"/>
          </a:xfrm>
          <a:prstGeom prst="rect">
            <a:avLst/>
          </a:prstGeom>
        </p:spPr>
      </p:pic>
    </p:spTree>
    <p:extLst>
      <p:ext uri="{BB962C8B-B14F-4D97-AF65-F5344CB8AC3E}">
        <p14:creationId xmlns:p14="http://schemas.microsoft.com/office/powerpoint/2010/main" val="468095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CEFA1-AC0A-32F7-D837-2D48A7A66A0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C20FEF7-7950-DA8B-021F-6AC17411D5E9}"/>
              </a:ext>
            </a:extLst>
          </p:cNvPr>
          <p:cNvSpPr txBox="1"/>
          <p:nvPr/>
        </p:nvSpPr>
        <p:spPr>
          <a:xfrm>
            <a:off x="724619" y="723131"/>
            <a:ext cx="10852030" cy="523220"/>
          </a:xfrm>
          <a:prstGeom prst="rect">
            <a:avLst/>
          </a:prstGeom>
          <a:noFill/>
        </p:spPr>
        <p:txBody>
          <a:bodyPr wrap="square">
            <a:spAutoFit/>
          </a:bodyPr>
          <a:lstStyle/>
          <a:p>
            <a:r>
              <a:rPr lang="en-US" dirty="0"/>
              <a:t>7. Let's invite the artists who have written the most rock music in our dataset. Write a query that returns the Artist name and total track count of the top 10 rock bands.</a:t>
            </a:r>
            <a:endParaRPr lang="en-IN" dirty="0"/>
          </a:p>
        </p:txBody>
      </p:sp>
      <p:pic>
        <p:nvPicPr>
          <p:cNvPr id="3" name="Picture 2" descr="A screenshot of a computer program&#10;&#10;AI-generated content may be incorrect.">
            <a:extLst>
              <a:ext uri="{FF2B5EF4-FFF2-40B4-BE49-F238E27FC236}">
                <a16:creationId xmlns:a16="http://schemas.microsoft.com/office/drawing/2014/main" id="{CA8E557F-20CE-85C9-DEDC-975D37BAC2BD}"/>
              </a:ext>
            </a:extLst>
          </p:cNvPr>
          <p:cNvPicPr>
            <a:picLocks noChangeAspect="1"/>
          </p:cNvPicPr>
          <p:nvPr/>
        </p:nvPicPr>
        <p:blipFill>
          <a:blip r:embed="rId2"/>
          <a:stretch>
            <a:fillRect/>
          </a:stretch>
        </p:blipFill>
        <p:spPr>
          <a:xfrm>
            <a:off x="724619" y="1400115"/>
            <a:ext cx="4813457" cy="4414088"/>
          </a:xfrm>
          <a:prstGeom prst="rect">
            <a:avLst/>
          </a:prstGeom>
        </p:spPr>
      </p:pic>
      <p:pic>
        <p:nvPicPr>
          <p:cNvPr id="6" name="Picture 5" descr="A screenshot of a music list&#10;&#10;AI-generated content may be incorrect.">
            <a:extLst>
              <a:ext uri="{FF2B5EF4-FFF2-40B4-BE49-F238E27FC236}">
                <a16:creationId xmlns:a16="http://schemas.microsoft.com/office/drawing/2014/main" id="{7C96FD23-9B8E-C2D0-DE26-A387D642A6FE}"/>
              </a:ext>
            </a:extLst>
          </p:cNvPr>
          <p:cNvPicPr>
            <a:picLocks noChangeAspect="1"/>
          </p:cNvPicPr>
          <p:nvPr/>
        </p:nvPicPr>
        <p:blipFill>
          <a:blip r:embed="rId3"/>
          <a:stretch>
            <a:fillRect/>
          </a:stretch>
        </p:blipFill>
        <p:spPr>
          <a:xfrm>
            <a:off x="6653926" y="1400115"/>
            <a:ext cx="3734437" cy="2918843"/>
          </a:xfrm>
          <a:prstGeom prst="rect">
            <a:avLst/>
          </a:prstGeom>
        </p:spPr>
      </p:pic>
    </p:spTree>
    <p:extLst>
      <p:ext uri="{BB962C8B-B14F-4D97-AF65-F5344CB8AC3E}">
        <p14:creationId xmlns:p14="http://schemas.microsoft.com/office/powerpoint/2010/main" val="4154617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1AC98-FBBC-0E93-4745-FFBF423ECAC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4BC72F6-DDE4-02BA-5571-A30142B4A659}"/>
              </a:ext>
            </a:extLst>
          </p:cNvPr>
          <p:cNvSpPr txBox="1"/>
          <p:nvPr/>
        </p:nvSpPr>
        <p:spPr>
          <a:xfrm>
            <a:off x="724619" y="723131"/>
            <a:ext cx="11105072" cy="523220"/>
          </a:xfrm>
          <a:prstGeom prst="rect">
            <a:avLst/>
          </a:prstGeom>
          <a:noFill/>
        </p:spPr>
        <p:txBody>
          <a:bodyPr wrap="square">
            <a:spAutoFit/>
          </a:bodyPr>
          <a:lstStyle/>
          <a:p>
            <a:r>
              <a:rPr lang="en-US" dirty="0"/>
              <a:t>8. Return all the track names that have a song length longer than the average song length.- Return the Name and Milliseconds for each track. Order by the song length, with the longest songs listed first.</a:t>
            </a:r>
            <a:endParaRPr lang="en-IN" dirty="0"/>
          </a:p>
        </p:txBody>
      </p:sp>
      <p:pic>
        <p:nvPicPr>
          <p:cNvPr id="3" name="Picture 2" descr="A screenshot of a computer program&#10;&#10;AI-generated content may be incorrect.">
            <a:extLst>
              <a:ext uri="{FF2B5EF4-FFF2-40B4-BE49-F238E27FC236}">
                <a16:creationId xmlns:a16="http://schemas.microsoft.com/office/drawing/2014/main" id="{F9C4A0E2-2368-A674-5BBD-3B809C0C6A2C}"/>
              </a:ext>
            </a:extLst>
          </p:cNvPr>
          <p:cNvPicPr>
            <a:picLocks noChangeAspect="1"/>
          </p:cNvPicPr>
          <p:nvPr/>
        </p:nvPicPr>
        <p:blipFill>
          <a:blip r:embed="rId2"/>
          <a:stretch>
            <a:fillRect/>
          </a:stretch>
        </p:blipFill>
        <p:spPr>
          <a:xfrm>
            <a:off x="805132" y="1627143"/>
            <a:ext cx="3214738" cy="2985114"/>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41E1FEB7-9F2E-1A75-698C-40F73632608A}"/>
              </a:ext>
            </a:extLst>
          </p:cNvPr>
          <p:cNvPicPr>
            <a:picLocks noChangeAspect="1"/>
          </p:cNvPicPr>
          <p:nvPr/>
        </p:nvPicPr>
        <p:blipFill>
          <a:blip r:embed="rId3"/>
          <a:stretch>
            <a:fillRect/>
          </a:stretch>
        </p:blipFill>
        <p:spPr>
          <a:xfrm>
            <a:off x="6035964" y="1514756"/>
            <a:ext cx="2901388" cy="4620114"/>
          </a:xfrm>
          <a:prstGeom prst="rect">
            <a:avLst/>
          </a:prstGeom>
        </p:spPr>
      </p:pic>
    </p:spTree>
    <p:extLst>
      <p:ext uri="{BB962C8B-B14F-4D97-AF65-F5344CB8AC3E}">
        <p14:creationId xmlns:p14="http://schemas.microsoft.com/office/powerpoint/2010/main" val="1268468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A0E10-3E68-2E63-5AD5-F8339C37EB4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FB6867E-2E59-F0CD-73FE-55F6BB5D168C}"/>
              </a:ext>
            </a:extLst>
          </p:cNvPr>
          <p:cNvSpPr txBox="1"/>
          <p:nvPr/>
        </p:nvSpPr>
        <p:spPr>
          <a:xfrm>
            <a:off x="724618" y="723131"/>
            <a:ext cx="10909539" cy="307777"/>
          </a:xfrm>
          <a:prstGeom prst="rect">
            <a:avLst/>
          </a:prstGeom>
          <a:noFill/>
        </p:spPr>
        <p:txBody>
          <a:bodyPr wrap="square">
            <a:spAutoFit/>
          </a:bodyPr>
          <a:lstStyle/>
          <a:p>
            <a:r>
              <a:rPr lang="en-US" dirty="0"/>
              <a:t>9. Find how much amount is spent by each customer on artists? Write a query to return customer name, artist name and total spent</a:t>
            </a:r>
            <a:endParaRPr lang="en-IN" dirty="0"/>
          </a:p>
        </p:txBody>
      </p:sp>
      <p:pic>
        <p:nvPicPr>
          <p:cNvPr id="3" name="Picture 2" descr="A screenshot of a computer program&#10;&#10;AI-generated content may be incorrect.">
            <a:extLst>
              <a:ext uri="{FF2B5EF4-FFF2-40B4-BE49-F238E27FC236}">
                <a16:creationId xmlns:a16="http://schemas.microsoft.com/office/drawing/2014/main" id="{9AE5B5D5-E0C1-D475-3D44-570865682503}"/>
              </a:ext>
            </a:extLst>
          </p:cNvPr>
          <p:cNvPicPr>
            <a:picLocks noChangeAspect="1"/>
          </p:cNvPicPr>
          <p:nvPr/>
        </p:nvPicPr>
        <p:blipFill>
          <a:blip r:embed="rId2"/>
          <a:stretch>
            <a:fillRect/>
          </a:stretch>
        </p:blipFill>
        <p:spPr>
          <a:xfrm>
            <a:off x="803221" y="1219199"/>
            <a:ext cx="6296329" cy="5023449"/>
          </a:xfrm>
          <a:prstGeom prst="rect">
            <a:avLst/>
          </a:prstGeom>
        </p:spPr>
      </p:pic>
      <p:pic>
        <p:nvPicPr>
          <p:cNvPr id="6" name="Picture 5" descr="A screenshot of a music list&#10;&#10;AI-generated content may be incorrect.">
            <a:extLst>
              <a:ext uri="{FF2B5EF4-FFF2-40B4-BE49-F238E27FC236}">
                <a16:creationId xmlns:a16="http://schemas.microsoft.com/office/drawing/2014/main" id="{0453B2E2-183D-8CA6-60C5-CA974F721E21}"/>
              </a:ext>
            </a:extLst>
          </p:cNvPr>
          <p:cNvPicPr>
            <a:picLocks noChangeAspect="1"/>
          </p:cNvPicPr>
          <p:nvPr/>
        </p:nvPicPr>
        <p:blipFill>
          <a:blip r:embed="rId3"/>
          <a:stretch>
            <a:fillRect/>
          </a:stretch>
        </p:blipFill>
        <p:spPr>
          <a:xfrm>
            <a:off x="7470820" y="1112806"/>
            <a:ext cx="4361138" cy="5069458"/>
          </a:xfrm>
          <a:prstGeom prst="rect">
            <a:avLst/>
          </a:prstGeom>
        </p:spPr>
      </p:pic>
    </p:spTree>
    <p:extLst>
      <p:ext uri="{BB962C8B-B14F-4D97-AF65-F5344CB8AC3E}">
        <p14:creationId xmlns:p14="http://schemas.microsoft.com/office/powerpoint/2010/main" val="21651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15AC4-23B2-2875-9893-438303CFB3F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3095939-4BEC-F0A0-5D33-2E65C26BFFAB}"/>
              </a:ext>
            </a:extLst>
          </p:cNvPr>
          <p:cNvSpPr txBox="1"/>
          <p:nvPr/>
        </p:nvSpPr>
        <p:spPr>
          <a:xfrm>
            <a:off x="724619" y="723131"/>
            <a:ext cx="10788770" cy="738664"/>
          </a:xfrm>
          <a:prstGeom prst="rect">
            <a:avLst/>
          </a:prstGeom>
          <a:noFill/>
        </p:spPr>
        <p:txBody>
          <a:bodyPr wrap="square">
            <a:spAutoFit/>
          </a:bodyPr>
          <a:lstStyle/>
          <a:p>
            <a:r>
              <a:rPr lang="en-US" dirty="0"/>
              <a:t>10. We want to find out the most popular music Genre for each country. We determine the most -- popular genre as the genre with the highest number of purchases. Write a query that returns each country along with the top Genre. For countries where the maximum number of purchases is shared, return all Genres </a:t>
            </a:r>
            <a:endParaRPr lang="en-IN" dirty="0"/>
          </a:p>
        </p:txBody>
      </p:sp>
      <p:pic>
        <p:nvPicPr>
          <p:cNvPr id="3" name="Picture 2" descr="A screenshot of a computer code&#10;&#10;AI-generated content may be incorrect.">
            <a:extLst>
              <a:ext uri="{FF2B5EF4-FFF2-40B4-BE49-F238E27FC236}">
                <a16:creationId xmlns:a16="http://schemas.microsoft.com/office/drawing/2014/main" id="{66307D92-BB26-3486-1240-CD0D31DC585E}"/>
              </a:ext>
            </a:extLst>
          </p:cNvPr>
          <p:cNvPicPr>
            <a:picLocks noChangeAspect="1"/>
          </p:cNvPicPr>
          <p:nvPr/>
        </p:nvPicPr>
        <p:blipFill>
          <a:blip r:embed="rId2"/>
          <a:stretch>
            <a:fillRect/>
          </a:stretch>
        </p:blipFill>
        <p:spPr>
          <a:xfrm>
            <a:off x="783418" y="1607828"/>
            <a:ext cx="3029457" cy="2200718"/>
          </a:xfrm>
          <a:prstGeom prst="rect">
            <a:avLst/>
          </a:prstGeom>
        </p:spPr>
      </p:pic>
      <p:pic>
        <p:nvPicPr>
          <p:cNvPr id="6" name="Picture 5" descr="A screenshot of a computer program&#10;&#10;AI-generated content may be incorrect.">
            <a:extLst>
              <a:ext uri="{FF2B5EF4-FFF2-40B4-BE49-F238E27FC236}">
                <a16:creationId xmlns:a16="http://schemas.microsoft.com/office/drawing/2014/main" id="{A33B4559-25FF-0006-877B-ADD3B360CE03}"/>
              </a:ext>
            </a:extLst>
          </p:cNvPr>
          <p:cNvPicPr>
            <a:picLocks noChangeAspect="1"/>
          </p:cNvPicPr>
          <p:nvPr/>
        </p:nvPicPr>
        <p:blipFill>
          <a:blip r:embed="rId3"/>
          <a:stretch>
            <a:fillRect/>
          </a:stretch>
        </p:blipFill>
        <p:spPr>
          <a:xfrm>
            <a:off x="3982965" y="1568620"/>
            <a:ext cx="3434156" cy="4566249"/>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9395DF14-DF38-C218-DA2A-7D84F6862B99}"/>
              </a:ext>
            </a:extLst>
          </p:cNvPr>
          <p:cNvPicPr>
            <a:picLocks noChangeAspect="1"/>
          </p:cNvPicPr>
          <p:nvPr/>
        </p:nvPicPr>
        <p:blipFill>
          <a:blip r:embed="rId4"/>
          <a:stretch>
            <a:fillRect/>
          </a:stretch>
        </p:blipFill>
        <p:spPr>
          <a:xfrm>
            <a:off x="7670130" y="1461795"/>
            <a:ext cx="3302670" cy="4422393"/>
          </a:xfrm>
          <a:prstGeom prst="rect">
            <a:avLst/>
          </a:prstGeom>
        </p:spPr>
      </p:pic>
    </p:spTree>
    <p:extLst>
      <p:ext uri="{BB962C8B-B14F-4D97-AF65-F5344CB8AC3E}">
        <p14:creationId xmlns:p14="http://schemas.microsoft.com/office/powerpoint/2010/main" val="4028427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A7737-AEB2-C0D9-1BC6-1C74E430997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0DE1842-F060-CCD7-E95F-63199AEA3491}"/>
              </a:ext>
            </a:extLst>
          </p:cNvPr>
          <p:cNvSpPr txBox="1"/>
          <p:nvPr/>
        </p:nvSpPr>
        <p:spPr>
          <a:xfrm>
            <a:off x="724619" y="723131"/>
            <a:ext cx="11007306" cy="738664"/>
          </a:xfrm>
          <a:prstGeom prst="rect">
            <a:avLst/>
          </a:prstGeom>
          <a:noFill/>
        </p:spPr>
        <p:txBody>
          <a:bodyPr wrap="square">
            <a:spAutoFit/>
          </a:bodyPr>
          <a:lstStyle/>
          <a:p>
            <a:r>
              <a:rPr lang="en-US" dirty="0"/>
              <a:t>11. Write a query that determines the customer that has spent the most on music for each country. Write a query that returns the country along with the top customer and how much they spent. For countries where the top amount spent is shared, provide all customers who spent this amount</a:t>
            </a:r>
            <a:endParaRPr lang="en-IN" dirty="0"/>
          </a:p>
        </p:txBody>
      </p:sp>
      <p:pic>
        <p:nvPicPr>
          <p:cNvPr id="3" name="Picture 2" descr="A screenshot of a computer code&#10;&#10;AI-generated content may be incorrect.">
            <a:extLst>
              <a:ext uri="{FF2B5EF4-FFF2-40B4-BE49-F238E27FC236}">
                <a16:creationId xmlns:a16="http://schemas.microsoft.com/office/drawing/2014/main" id="{B7F6AB61-8DEB-E599-CDDC-23AC392E6715}"/>
              </a:ext>
            </a:extLst>
          </p:cNvPr>
          <p:cNvPicPr>
            <a:picLocks noChangeAspect="1"/>
          </p:cNvPicPr>
          <p:nvPr/>
        </p:nvPicPr>
        <p:blipFill>
          <a:blip r:embed="rId2"/>
          <a:stretch>
            <a:fillRect/>
          </a:stretch>
        </p:blipFill>
        <p:spPr>
          <a:xfrm>
            <a:off x="724619" y="1713781"/>
            <a:ext cx="3918669" cy="3945147"/>
          </a:xfrm>
          <a:prstGeom prst="rect">
            <a:avLst/>
          </a:prstGeom>
        </p:spPr>
      </p:pic>
      <p:pic>
        <p:nvPicPr>
          <p:cNvPr id="6" name="Picture 5" descr="A screenshot of a computer program&#10;&#10;AI-generated content may be incorrect.">
            <a:extLst>
              <a:ext uri="{FF2B5EF4-FFF2-40B4-BE49-F238E27FC236}">
                <a16:creationId xmlns:a16="http://schemas.microsoft.com/office/drawing/2014/main" id="{C0325C0F-D087-58FC-A20F-32469D3FB7D8}"/>
              </a:ext>
            </a:extLst>
          </p:cNvPr>
          <p:cNvPicPr>
            <a:picLocks noChangeAspect="1"/>
          </p:cNvPicPr>
          <p:nvPr/>
        </p:nvPicPr>
        <p:blipFill>
          <a:blip r:embed="rId3"/>
          <a:stretch>
            <a:fillRect/>
          </a:stretch>
        </p:blipFill>
        <p:spPr>
          <a:xfrm>
            <a:off x="5040103" y="1713781"/>
            <a:ext cx="1688501" cy="1395827"/>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ECFE274F-887C-B900-BA4E-57A20FACB44A}"/>
              </a:ext>
            </a:extLst>
          </p:cNvPr>
          <p:cNvPicPr>
            <a:picLocks noChangeAspect="1"/>
          </p:cNvPicPr>
          <p:nvPr/>
        </p:nvPicPr>
        <p:blipFill>
          <a:blip r:embed="rId4"/>
          <a:stretch>
            <a:fillRect/>
          </a:stretch>
        </p:blipFill>
        <p:spPr>
          <a:xfrm>
            <a:off x="7125419" y="1292575"/>
            <a:ext cx="3477239" cy="4842294"/>
          </a:xfrm>
          <a:prstGeom prst="rect">
            <a:avLst/>
          </a:prstGeom>
        </p:spPr>
      </p:pic>
    </p:spTree>
    <p:extLst>
      <p:ext uri="{BB962C8B-B14F-4D97-AF65-F5344CB8AC3E}">
        <p14:creationId xmlns:p14="http://schemas.microsoft.com/office/powerpoint/2010/main" val="2348526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8D087-0582-E350-C213-2850AB8D690C}"/>
              </a:ext>
            </a:extLst>
          </p:cNvPr>
          <p:cNvSpPr>
            <a:spLocks noGrp="1"/>
          </p:cNvSpPr>
          <p:nvPr>
            <p:ph type="title"/>
          </p:nvPr>
        </p:nvSpPr>
        <p:spPr/>
        <p:txBody>
          <a:bodyPr anchor="t">
            <a:noAutofit/>
          </a:bodyPr>
          <a:lstStyle/>
          <a:p>
            <a:r>
              <a:rPr lang="en-US" sz="3000" b="1" dirty="0"/>
              <a:t>Final business insights and recommendations</a:t>
            </a:r>
            <a:br>
              <a:rPr lang="en-US" sz="3000" dirty="0"/>
            </a:br>
            <a:endParaRPr lang="en-IN" sz="3000" dirty="0"/>
          </a:p>
        </p:txBody>
      </p:sp>
      <p:sp>
        <p:nvSpPr>
          <p:cNvPr id="3" name="Text Placeholder 2">
            <a:extLst>
              <a:ext uri="{FF2B5EF4-FFF2-40B4-BE49-F238E27FC236}">
                <a16:creationId xmlns:a16="http://schemas.microsoft.com/office/drawing/2014/main" id="{BF4C407B-DFEE-87E8-C360-7C6470937A44}"/>
              </a:ext>
            </a:extLst>
          </p:cNvPr>
          <p:cNvSpPr>
            <a:spLocks noGrp="1"/>
          </p:cNvSpPr>
          <p:nvPr>
            <p:ph type="body" idx="1"/>
          </p:nvPr>
        </p:nvSpPr>
        <p:spPr/>
        <p:txBody>
          <a:bodyPr/>
          <a:lstStyle/>
          <a:p>
            <a:pPr marL="114300" indent="0">
              <a:buNone/>
            </a:pPr>
            <a:r>
              <a:rPr lang="en-IN" b="1" i="1" u="sng" dirty="0">
                <a:effectLst>
                  <a:outerShdw blurRad="38100" dist="38100" dir="2700000" algn="tl">
                    <a:srgbClr val="000000">
                      <a:alpha val="43137"/>
                    </a:srgbClr>
                  </a:outerShdw>
                </a:effectLst>
              </a:rPr>
              <a:t>Key Business Insights</a:t>
            </a:r>
          </a:p>
          <a:p>
            <a:r>
              <a:rPr lang="en-US" dirty="0"/>
              <a:t>The USA generates the highest overall revenue among all countries</a:t>
            </a:r>
          </a:p>
          <a:p>
            <a:r>
              <a:rPr lang="en-US" dirty="0"/>
              <a:t>India shows growing customer engagement, indicating strong potential for market expansion</a:t>
            </a:r>
          </a:p>
          <a:p>
            <a:r>
              <a:rPr lang="en-US" dirty="0"/>
              <a:t>Rock music emerges as the most popular genre across multiple countries</a:t>
            </a:r>
          </a:p>
          <a:p>
            <a:r>
              <a:rPr lang="en-US" dirty="0"/>
              <a:t>A small group of customers contributes a significant portion of total revenue</a:t>
            </a:r>
          </a:p>
          <a:p>
            <a:r>
              <a:rPr lang="en-US" dirty="0"/>
              <a:t>Certain cities consistently record high invoice totals, reflecting strong regional demand</a:t>
            </a:r>
            <a:endParaRPr lang="en-IN" dirty="0"/>
          </a:p>
        </p:txBody>
      </p:sp>
    </p:spTree>
    <p:extLst>
      <p:ext uri="{BB962C8B-B14F-4D97-AF65-F5344CB8AC3E}">
        <p14:creationId xmlns:p14="http://schemas.microsoft.com/office/powerpoint/2010/main" val="42051376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2360F-787B-1542-66AE-922723A2F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216FB0-11DE-8B9A-A1B4-33AA1855DD50}"/>
              </a:ext>
            </a:extLst>
          </p:cNvPr>
          <p:cNvSpPr>
            <a:spLocks noGrp="1"/>
          </p:cNvSpPr>
          <p:nvPr>
            <p:ph type="title"/>
          </p:nvPr>
        </p:nvSpPr>
        <p:spPr/>
        <p:txBody>
          <a:bodyPr anchor="t">
            <a:noAutofit/>
          </a:bodyPr>
          <a:lstStyle/>
          <a:p>
            <a:r>
              <a:rPr lang="en-US" sz="3000" b="1" dirty="0"/>
              <a:t>Final business insights and recommendations</a:t>
            </a:r>
            <a:br>
              <a:rPr lang="en-US" sz="3000" dirty="0"/>
            </a:br>
            <a:endParaRPr lang="en-IN" sz="3000" dirty="0"/>
          </a:p>
        </p:txBody>
      </p:sp>
      <p:sp>
        <p:nvSpPr>
          <p:cNvPr id="3" name="Text Placeholder 2">
            <a:extLst>
              <a:ext uri="{FF2B5EF4-FFF2-40B4-BE49-F238E27FC236}">
                <a16:creationId xmlns:a16="http://schemas.microsoft.com/office/drawing/2014/main" id="{FE0CC17D-BB4E-9E06-4A84-4B0EFF685942}"/>
              </a:ext>
            </a:extLst>
          </p:cNvPr>
          <p:cNvSpPr>
            <a:spLocks noGrp="1"/>
          </p:cNvSpPr>
          <p:nvPr>
            <p:ph type="body" idx="1"/>
          </p:nvPr>
        </p:nvSpPr>
        <p:spPr/>
        <p:txBody>
          <a:bodyPr/>
          <a:lstStyle/>
          <a:p>
            <a:pPr marL="114300" indent="0">
              <a:buNone/>
            </a:pPr>
            <a:r>
              <a:rPr lang="en-IN" b="1" i="1" u="sng" dirty="0">
                <a:effectLst>
                  <a:outerShdw blurRad="38100" dist="38100" dir="2700000" algn="tl">
                    <a:srgbClr val="000000">
                      <a:alpha val="43137"/>
                    </a:srgbClr>
                  </a:outerShdw>
                </a:effectLst>
              </a:rPr>
              <a:t>Business Recommendations</a:t>
            </a:r>
          </a:p>
          <a:p>
            <a:r>
              <a:rPr lang="en-US" dirty="0"/>
              <a:t>Organize promotional music events in high-revenue cities across the USA and India</a:t>
            </a:r>
          </a:p>
          <a:p>
            <a:r>
              <a:rPr lang="en-US" dirty="0"/>
              <a:t>Launch region-specific marketing strategies tailored to Indian customer preferences</a:t>
            </a:r>
          </a:p>
          <a:p>
            <a:r>
              <a:rPr lang="en-US" dirty="0"/>
              <a:t>Focus targeted campaigns on Rock genre listeners</a:t>
            </a:r>
          </a:p>
          <a:p>
            <a:r>
              <a:rPr lang="en-US" dirty="0"/>
              <a:t>Introduce loyalty and reward programs for high-spending customers</a:t>
            </a:r>
            <a:endParaRPr lang="en-IN" i="1" u="sng"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0854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52A79-21D0-7719-7584-755DC235AA41}"/>
              </a:ext>
            </a:extLst>
          </p:cNvPr>
          <p:cNvSpPr>
            <a:spLocks noGrp="1"/>
          </p:cNvSpPr>
          <p:nvPr>
            <p:ph type="title"/>
          </p:nvPr>
        </p:nvSpPr>
        <p:spPr>
          <a:xfrm>
            <a:off x="838200" y="681036"/>
            <a:ext cx="8101405" cy="624578"/>
          </a:xfrm>
        </p:spPr>
        <p:txBody>
          <a:bodyPr>
            <a:noAutofit/>
          </a:bodyPr>
          <a:lstStyle/>
          <a:p>
            <a:r>
              <a:rPr lang="en-US" sz="3000" b="1" dirty="0"/>
              <a:t>Conclusion </a:t>
            </a:r>
            <a:br>
              <a:rPr lang="en-US" sz="3000" dirty="0"/>
            </a:br>
            <a:endParaRPr lang="en-IN" sz="3000" dirty="0"/>
          </a:p>
        </p:txBody>
      </p:sp>
      <p:sp>
        <p:nvSpPr>
          <p:cNvPr id="3" name="Text Placeholder 2">
            <a:extLst>
              <a:ext uri="{FF2B5EF4-FFF2-40B4-BE49-F238E27FC236}">
                <a16:creationId xmlns:a16="http://schemas.microsoft.com/office/drawing/2014/main" id="{25BF68E9-54EC-7C27-33DE-FB9E5F1277F7}"/>
              </a:ext>
            </a:extLst>
          </p:cNvPr>
          <p:cNvSpPr>
            <a:spLocks noGrp="1"/>
          </p:cNvSpPr>
          <p:nvPr>
            <p:ph type="body" idx="1"/>
          </p:nvPr>
        </p:nvSpPr>
        <p:spPr/>
        <p:txBody>
          <a:bodyPr/>
          <a:lstStyle/>
          <a:p>
            <a:r>
              <a:rPr lang="en-US" dirty="0"/>
              <a:t>This project helped us understand how SQL can be used to analyze </a:t>
            </a:r>
            <a:r>
              <a:rPr lang="en-US" dirty="0">
                <a:solidFill>
                  <a:srgbClr val="E82429"/>
                </a:solidFill>
              </a:rPr>
              <a:t>real-world business data</a:t>
            </a:r>
            <a:r>
              <a:rPr lang="en-US" dirty="0"/>
              <a:t>.</a:t>
            </a:r>
          </a:p>
          <a:p>
            <a:r>
              <a:rPr lang="en-US" dirty="0"/>
              <a:t>By applying JOINS, AGGREGATIONS, and SUBQUERIES, we were able to extract </a:t>
            </a:r>
            <a:r>
              <a:rPr lang="en-US" dirty="0">
                <a:solidFill>
                  <a:srgbClr val="E82429"/>
                </a:solidFill>
              </a:rPr>
              <a:t>meaningful business insights</a:t>
            </a:r>
            <a:r>
              <a:rPr lang="en-US" dirty="0"/>
              <a:t>.</a:t>
            </a:r>
          </a:p>
          <a:p>
            <a:r>
              <a:rPr lang="en-US" dirty="0"/>
              <a:t>The analysis demonstrates how data-driven decision-making can significantly improve business strategy and performance.</a:t>
            </a:r>
            <a:endParaRPr lang="en-IN" dirty="0"/>
          </a:p>
        </p:txBody>
      </p:sp>
    </p:spTree>
    <p:extLst>
      <p:ext uri="{BB962C8B-B14F-4D97-AF65-F5344CB8AC3E}">
        <p14:creationId xmlns:p14="http://schemas.microsoft.com/office/powerpoint/2010/main" val="16955850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33CA7-E0D9-6572-2E75-AF6D2CDFC90F}"/>
              </a:ext>
            </a:extLst>
          </p:cNvPr>
          <p:cNvSpPr>
            <a:spLocks noGrp="1"/>
          </p:cNvSpPr>
          <p:nvPr>
            <p:ph type="title"/>
          </p:nvPr>
        </p:nvSpPr>
        <p:spPr/>
        <p:txBody>
          <a:bodyPr anchor="t">
            <a:normAutofit fontScale="90000"/>
          </a:bodyPr>
          <a:lstStyle/>
          <a:p>
            <a:r>
              <a:rPr lang="en-US" b="1" dirty="0"/>
              <a:t>Our Experience/Challenges working on SQL – Data Analysis Project.</a:t>
            </a:r>
            <a:br>
              <a:rPr lang="en-US" dirty="0"/>
            </a:br>
            <a:endParaRPr lang="en-IN" dirty="0"/>
          </a:p>
        </p:txBody>
      </p:sp>
      <p:sp>
        <p:nvSpPr>
          <p:cNvPr id="3" name="Text Placeholder 2">
            <a:extLst>
              <a:ext uri="{FF2B5EF4-FFF2-40B4-BE49-F238E27FC236}">
                <a16:creationId xmlns:a16="http://schemas.microsoft.com/office/drawing/2014/main" id="{1F7B1333-4B51-9CA1-25E0-8D51B3EBCADB}"/>
              </a:ext>
            </a:extLst>
          </p:cNvPr>
          <p:cNvSpPr>
            <a:spLocks noGrp="1"/>
          </p:cNvSpPr>
          <p:nvPr>
            <p:ph type="body" idx="1"/>
          </p:nvPr>
        </p:nvSpPr>
        <p:spPr>
          <a:xfrm>
            <a:off x="838200" y="1334218"/>
            <a:ext cx="10515600" cy="4842745"/>
          </a:xfrm>
        </p:spPr>
        <p:txBody>
          <a:bodyPr/>
          <a:lstStyle/>
          <a:p>
            <a:r>
              <a:rPr lang="en-US" dirty="0"/>
              <a:t>Understanding </a:t>
            </a:r>
            <a:r>
              <a:rPr lang="en-US" dirty="0">
                <a:solidFill>
                  <a:srgbClr val="E52328"/>
                </a:solidFill>
              </a:rPr>
              <a:t>complex table relationships</a:t>
            </a:r>
            <a:r>
              <a:rPr lang="en-US" dirty="0"/>
              <a:t> and </a:t>
            </a:r>
            <a:r>
              <a:rPr lang="en-US" dirty="0">
                <a:solidFill>
                  <a:srgbClr val="E52328"/>
                </a:solidFill>
              </a:rPr>
              <a:t>foreign key dependencies</a:t>
            </a:r>
            <a:r>
              <a:rPr lang="en-US" dirty="0"/>
              <a:t> was challenging in the initial stages</a:t>
            </a:r>
          </a:p>
          <a:p>
            <a:r>
              <a:rPr lang="en-US" dirty="0"/>
              <a:t>While </a:t>
            </a:r>
            <a:r>
              <a:rPr lang="en-US" dirty="0">
                <a:solidFill>
                  <a:srgbClr val="E52328"/>
                </a:solidFill>
              </a:rPr>
              <a:t>importing CSV data</a:t>
            </a:r>
            <a:r>
              <a:rPr lang="en-US" dirty="0"/>
              <a:t>, we faced issues related to </a:t>
            </a:r>
            <a:r>
              <a:rPr lang="en-US" dirty="0">
                <a:solidFill>
                  <a:schemeClr val="tx1"/>
                </a:solidFill>
              </a:rPr>
              <a:t>data type mismatches, NULL values</a:t>
            </a:r>
            <a:r>
              <a:rPr lang="en-US" dirty="0"/>
              <a:t>, and date format errors</a:t>
            </a:r>
          </a:p>
          <a:p>
            <a:r>
              <a:rPr lang="en-US" dirty="0"/>
              <a:t>Writing </a:t>
            </a:r>
            <a:r>
              <a:rPr lang="en-US" dirty="0">
                <a:solidFill>
                  <a:srgbClr val="E82429"/>
                </a:solidFill>
              </a:rPr>
              <a:t>optimized JOIN queries</a:t>
            </a:r>
            <a:r>
              <a:rPr lang="en-US" dirty="0"/>
              <a:t> across multiple tables required careful planning and repeated testing</a:t>
            </a:r>
          </a:p>
          <a:p>
            <a:r>
              <a:rPr lang="en-US" dirty="0"/>
              <a:t>Handling aggregate functions, GROUP BY, and nested subqueries improved our </a:t>
            </a:r>
            <a:r>
              <a:rPr lang="en-US" dirty="0">
                <a:solidFill>
                  <a:srgbClr val="E82429"/>
                </a:solidFill>
              </a:rPr>
              <a:t>logical thinking</a:t>
            </a:r>
            <a:r>
              <a:rPr lang="en-US" dirty="0"/>
              <a:t> and SQL proficiency</a:t>
            </a:r>
          </a:p>
          <a:p>
            <a:r>
              <a:rPr lang="en-US" dirty="0"/>
              <a:t>Debugging incorrect query outputs and improving query performance strengthened our </a:t>
            </a:r>
            <a:r>
              <a:rPr lang="en-US" dirty="0">
                <a:solidFill>
                  <a:srgbClr val="E82429"/>
                </a:solidFill>
              </a:rPr>
              <a:t>real-world data analysis </a:t>
            </a:r>
            <a:r>
              <a:rPr lang="en-US" dirty="0"/>
              <a:t>confidence</a:t>
            </a:r>
            <a:endParaRPr lang="en-IN" dirty="0"/>
          </a:p>
        </p:txBody>
      </p:sp>
    </p:spTree>
    <p:extLst>
      <p:ext uri="{BB962C8B-B14F-4D97-AF65-F5344CB8AC3E}">
        <p14:creationId xmlns:p14="http://schemas.microsoft.com/office/powerpoint/2010/main" val="25267668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19825-8471-FDD0-9765-37AB064425C1}"/>
              </a:ext>
            </a:extLst>
          </p:cNvPr>
          <p:cNvSpPr>
            <a:spLocks noGrp="1"/>
          </p:cNvSpPr>
          <p:nvPr>
            <p:ph type="title"/>
          </p:nvPr>
        </p:nvSpPr>
        <p:spPr/>
        <p:txBody>
          <a:bodyPr anchor="t">
            <a:normAutofit fontScale="90000"/>
          </a:bodyPr>
          <a:lstStyle/>
          <a:p>
            <a:pPr lvl="0" indent="-431800"/>
            <a:r>
              <a:rPr lang="en-US" b="1" dirty="0"/>
              <a:t>Q&amp;A Slide </a:t>
            </a:r>
            <a:br>
              <a:rPr lang="en-US" dirty="0"/>
            </a:br>
            <a:br>
              <a:rPr lang="en-IN" dirty="0"/>
            </a:br>
            <a:endParaRPr lang="en-IN" dirty="0"/>
          </a:p>
        </p:txBody>
      </p:sp>
      <p:sp>
        <p:nvSpPr>
          <p:cNvPr id="3" name="Text Placeholder 2">
            <a:extLst>
              <a:ext uri="{FF2B5EF4-FFF2-40B4-BE49-F238E27FC236}">
                <a16:creationId xmlns:a16="http://schemas.microsoft.com/office/drawing/2014/main" id="{49F762EB-77CB-4D61-0542-29B71D5A9078}"/>
              </a:ext>
            </a:extLst>
          </p:cNvPr>
          <p:cNvSpPr>
            <a:spLocks noGrp="1"/>
          </p:cNvSpPr>
          <p:nvPr>
            <p:ph type="body" idx="1"/>
          </p:nvPr>
        </p:nvSpPr>
        <p:spPr/>
        <p:txBody>
          <a:bodyPr/>
          <a:lstStyle/>
          <a:p>
            <a:r>
              <a:rPr lang="en-US" dirty="0"/>
              <a:t>We are happy to </a:t>
            </a:r>
            <a:r>
              <a:rPr lang="en-US" dirty="0">
                <a:solidFill>
                  <a:srgbClr val="E62328"/>
                </a:solidFill>
              </a:rPr>
              <a:t>ANSWER</a:t>
            </a:r>
            <a:r>
              <a:rPr lang="en-US" dirty="0"/>
              <a:t> your questions</a:t>
            </a:r>
          </a:p>
        </p:txBody>
      </p:sp>
    </p:spTree>
    <p:extLst>
      <p:ext uri="{BB962C8B-B14F-4D97-AF65-F5344CB8AC3E}">
        <p14:creationId xmlns:p14="http://schemas.microsoft.com/office/powerpoint/2010/main" val="24176274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E82328"/>
                </a:solidFill>
                <a:latin typeface="Libre Baskerville"/>
                <a:ea typeface="Libre Baskerville"/>
                <a:cs typeface="Libre Baskerville"/>
                <a:sym typeface="Libre Baskerville"/>
              </a:rPr>
              <a:t>THANK YOU</a:t>
            </a:r>
            <a:endParaRPr sz="1800" b="0" i="0" u="none" strike="noStrike" cap="none" dirty="0">
              <a:solidFill>
                <a:srgbClr val="E8232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TotalTime>
  <Words>950</Words>
  <Application>Microsoft Office PowerPoint</Application>
  <PresentationFormat>Widescreen</PresentationFormat>
  <Paragraphs>85</Paragraphs>
  <Slides>24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Libre Baskerville</vt:lpstr>
      <vt:lpstr>Lato Black</vt:lpstr>
      <vt:lpstr>Times New Roman</vt:lpstr>
      <vt:lpstr>Calibri</vt:lpstr>
      <vt:lpstr>Office Theme</vt:lpstr>
      <vt:lpstr>PowerPoint Presentation</vt:lpstr>
      <vt:lpstr>PowerPoint Presentation</vt:lpstr>
      <vt:lpstr>Objective of the Project</vt:lpstr>
      <vt:lpstr>ER Diagram and Schema Explanation </vt:lpstr>
      <vt:lpstr>ER Diagram and Schema Explanation </vt:lpstr>
      <vt:lpstr>ER Diagram and schema explanation </vt:lpstr>
      <vt:lpstr>Key analysis questions (use cases)  The questions were centered around </vt:lpstr>
      <vt:lpstr>SQL query results with screenshots or summaries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Final business insights and recommendations </vt:lpstr>
      <vt:lpstr>Final business insights and recommendations </vt:lpstr>
      <vt:lpstr>Conclusion  </vt:lpstr>
      <vt:lpstr>Our Experience/Challenges working on SQL – Data Analysis Project. </vt:lpstr>
      <vt:lpstr>Q&amp;A Slide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NIKSHITH KANCHARI</cp:lastModifiedBy>
  <cp:revision>4</cp:revision>
  <dcterms:created xsi:type="dcterms:W3CDTF">2021-02-16T05:19:01Z</dcterms:created>
  <dcterms:modified xsi:type="dcterms:W3CDTF">2026-01-02T21:49:21Z</dcterms:modified>
</cp:coreProperties>
</file>